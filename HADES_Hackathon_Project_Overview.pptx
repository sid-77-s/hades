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1234440"/>
            <a:ext cx="685800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5800" b="1">
                <a:solidFill>
                  <a:srgbClr val="EEF6FC"/>
                </a:solidFill>
                <a:latin typeface="Aptos Mono"/>
              </a:rPr>
              <a:t>HADES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2212848"/>
            <a:ext cx="6858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2DD3FF"/>
                </a:solidFill>
                <a:latin typeface="Aptos Mono"/>
              </a:rPr>
              <a:t>THE AI PARTNER FOR LINUX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2880360"/>
            <a:ext cx="65836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600" b="1">
                <a:solidFill>
                  <a:srgbClr val="EEF6FC"/>
                </a:solidFill>
                <a:latin typeface="Aptos"/>
              </a:rPr>
              <a:t>From asking an AI for answers → to giving it outcomes to 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794760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9DB0C1"/>
                </a:solidFill>
                <a:latin typeface="Aptos"/>
              </a:rPr>
              <a:t>Open Innovation — Linux Based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736592"/>
            <a:ext cx="3246120" cy="347472"/>
          </a:xfrm>
          <a:prstGeom prst="roundRect">
            <a:avLst/>
          </a:prstGeom>
          <a:solidFill>
            <a:srgbClr val="0D1C2B"/>
          </a:solidFill>
          <a:ln w="1270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754879"/>
            <a:ext cx="32461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2DD3FF"/>
                </a:solidFill>
                <a:latin typeface="Aptos Mono"/>
              </a:rPr>
              <a:t>AI • AUTOMATION • PRODUCTIVITY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0" y="1234440"/>
            <a:ext cx="2423160" cy="2423160"/>
          </a:xfrm>
          <a:prstGeom prst="ellipse">
            <a:avLst/>
          </a:prstGeom>
          <a:solidFill>
            <a:srgbClr val="0A1420"/>
          </a:solidFill>
          <a:ln w="2540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1682496"/>
            <a:ext cx="1417320" cy="11887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6000" b="1">
                <a:solidFill>
                  <a:srgbClr val="2DD3FF"/>
                </a:solidFill>
                <a:latin typeface="Aptos Mono"/>
              </a:rPr>
              <a:t>H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1691639"/>
            <a:ext cx="1508760" cy="1508760"/>
          </a:xfrm>
          <a:prstGeom prst="ellipse">
            <a:avLst/>
          </a:prstGeom>
          <a:noFill/>
          <a:ln w="12700">
            <a:solidFill>
              <a:srgbClr val="0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81059" y="1485899"/>
            <a:ext cx="1920240" cy="1920240"/>
          </a:xfrm>
          <a:prstGeom prst="ellipse">
            <a:avLst/>
          </a:prstGeom>
          <a:noFill/>
          <a:ln w="12700">
            <a:solidFill>
              <a:srgbClr val="0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75319" y="1280160"/>
            <a:ext cx="2331720" cy="2331720"/>
          </a:xfrm>
          <a:prstGeom prst="ellipse">
            <a:avLst/>
          </a:prstGeom>
          <a:noFill/>
          <a:ln w="12700">
            <a:solidFill>
              <a:srgbClr val="0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160520"/>
            <a:ext cx="3246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9DB0C1"/>
                </a:solidFill>
                <a:latin typeface="Aptos Mono"/>
              </a:rPr>
              <a:t>PARTNER  •  EXECUTOR  •  WORKERS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01 / 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Problem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Today's AI assistants are optimized for conversation. Real work still gets pushed back onto the user.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2011680"/>
            <a:ext cx="5303520" cy="36118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167128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6767"/>
                </a:solidFill>
                <a:latin typeface="Aptos Mono"/>
              </a:rPr>
              <a:t>THE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2487168"/>
            <a:ext cx="4709160" cy="2788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AI can explain what to do, but often stops before the actual work.</a:t>
            </a:r>
          </a:p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Users must repeatedly plan, execute, verify, and report progress.</a:t>
            </a:r>
          </a:p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Complex tasks cross multiple tools: files, shell, browser, research, documents.</a:t>
            </a:r>
          </a:p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Users need an assistant that can act with context — without turning every action into a permission dialog.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011680"/>
            <a:ext cx="5394960" cy="36118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167128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WHAT HADES CHANGES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2606040"/>
            <a:ext cx="47548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EEF6FC"/>
                </a:solidFill>
                <a:latin typeface="Aptos"/>
              </a:rPr>
              <a:t>Give HADES an outcome.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3246120"/>
            <a:ext cx="46177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9DB0C1"/>
                </a:solidFill>
                <a:latin typeface="Aptos"/>
              </a:rPr>
              <a:t>HADES decides how to get there, delegates work to specialized workers, uses Linux capabilities, verifies the result, and returns with the outcome.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3952" y="4754880"/>
            <a:ext cx="1828800" cy="347472"/>
          </a:xfrm>
          <a:prstGeom prst="roundRect">
            <a:avLst/>
          </a:prstGeom>
          <a:solidFill>
            <a:srgbClr val="0D1C2B"/>
          </a:solidFill>
          <a:ln w="12700">
            <a:solidFill>
              <a:srgbClr val="49E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477316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49E29D"/>
                </a:solidFill>
                <a:latin typeface="Aptos Mono"/>
              </a:rPr>
              <a:t>LESS SUPERVISION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58200" y="4754880"/>
            <a:ext cx="1828800" cy="347472"/>
          </a:xfrm>
          <a:prstGeom prst="roundRect">
            <a:avLst/>
          </a:prstGeom>
          <a:solidFill>
            <a:srgbClr val="0D1C2B"/>
          </a:solidFill>
          <a:ln w="1270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477316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2DD3FF"/>
                </a:solidFill>
                <a:latin typeface="Aptos Mono"/>
              </a:rPr>
              <a:t>MORE EXECUTION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02 / OBJECTIVE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Build an AI application that turns natural-language intent into reliable, end-to-end work on Linux.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1965960"/>
            <a:ext cx="10972800" cy="36118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121408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CORE 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487168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500" b="1">
                <a:solidFill>
                  <a:srgbClr val="EEF6FC"/>
                </a:solidFill>
                <a:latin typeface="Aptos Mono"/>
              </a:rPr>
              <a:t>Understand → Plan → Delegate → Execute → Verify → Return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3401568"/>
            <a:ext cx="59436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3511296"/>
            <a:ext cx="3749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11480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2DD3FF"/>
                </a:solidFill>
                <a:latin typeface="Aptos Mono"/>
              </a:rPr>
              <a:t>UNDERSTAND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4453128"/>
            <a:ext cx="1280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>
                <a:solidFill>
                  <a:srgbClr val="9DB0C1"/>
                </a:solidFill>
                <a:latin typeface="Aptos"/>
              </a:rPr>
              <a:t>Interpret intent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81328" y="3703320"/>
            <a:ext cx="960120" cy="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624328" y="3401568"/>
            <a:ext cx="59436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34056" y="3511296"/>
            <a:ext cx="3749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411480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2DD3FF"/>
                </a:solidFill>
                <a:latin typeface="Aptos Mono"/>
              </a:rPr>
              <a:t>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4453128"/>
            <a:ext cx="1280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>
                <a:solidFill>
                  <a:srgbClr val="9DB0C1"/>
                </a:solidFill>
                <a:latin typeface="Aptos"/>
              </a:rPr>
              <a:t>Choose the route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64408" y="3703320"/>
            <a:ext cx="960120" cy="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407408" y="3401568"/>
            <a:ext cx="59436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17136" y="3511296"/>
            <a:ext cx="3749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11480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2DD3FF"/>
                </a:solidFill>
                <a:latin typeface="Aptos Mono"/>
              </a:rPr>
              <a:t>DELEGATE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7368" y="4453128"/>
            <a:ext cx="1280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>
                <a:solidFill>
                  <a:srgbClr val="9DB0C1"/>
                </a:solidFill>
                <a:latin typeface="Aptos"/>
              </a:rPr>
              <a:t>Use workers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47488" y="3703320"/>
            <a:ext cx="960120" cy="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190488" y="3401568"/>
            <a:ext cx="59436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0216" y="3511296"/>
            <a:ext cx="3749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411480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2DD3FF"/>
                </a:solidFill>
                <a:latin typeface="Aptos Mono"/>
              </a:rPr>
              <a:t>EXECUTE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70448" y="4453128"/>
            <a:ext cx="1280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>
                <a:solidFill>
                  <a:srgbClr val="9DB0C1"/>
                </a:solidFill>
                <a:latin typeface="Aptos"/>
              </a:rPr>
              <a:t>Act on Linux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30568" y="3703320"/>
            <a:ext cx="960120" cy="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973568" y="3401568"/>
            <a:ext cx="59436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83296" y="3511296"/>
            <a:ext cx="3749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11480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2DD3FF"/>
                </a:solidFill>
                <a:latin typeface="Aptos Mono"/>
              </a:rPr>
              <a:t>VERIFY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53528" y="4453128"/>
            <a:ext cx="1280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>
                <a:solidFill>
                  <a:srgbClr val="9DB0C1"/>
                </a:solidFill>
                <a:latin typeface="Aptos"/>
              </a:rPr>
              <a:t>Check outcome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613648" y="3703320"/>
            <a:ext cx="960120" cy="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756648" y="3401568"/>
            <a:ext cx="59436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66376" y="3511296"/>
            <a:ext cx="3749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411480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1">
                <a:solidFill>
                  <a:srgbClr val="2DD3FF"/>
                </a:solidFill>
                <a:latin typeface="Aptos Mono"/>
              </a:rPr>
              <a:t>RETURN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36608" y="4453128"/>
            <a:ext cx="1280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00" b="0">
                <a:solidFill>
                  <a:srgbClr val="9DB0C1"/>
                </a:solidFill>
                <a:latin typeface="Aptos"/>
              </a:rPr>
              <a:t>Report back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5102352"/>
            <a:ext cx="8412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49E29D"/>
                </a:solidFill>
                <a:latin typeface="Aptos"/>
              </a:rPr>
              <a:t>The user communicates the goal. HADES owns the workflow.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03 / 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What is HADES?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A partner-style AI application designed to operate across Linux tools instead of merely chatting about them.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1828800"/>
            <a:ext cx="2011680" cy="73152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EE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4648" y="1938528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2258568"/>
            <a:ext cx="17922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"/>
              </a:rPr>
              <a:t>natural language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3063240"/>
            <a:ext cx="3840480" cy="86868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3172968"/>
            <a:ext cx="36210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PARTNER BRAIN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3493008"/>
            <a:ext cx="3621024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"/>
              </a:rPr>
              <a:t>conversation • intent • context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80760" y="2560320"/>
            <a:ext cx="0" cy="502920"/>
          </a:xfrm>
          <a:prstGeom prst="line">
            <a:avLst/>
          </a:prstGeom>
          <a:ln w="19050">
            <a:solidFill>
              <a:srgbClr val="2D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60520" y="4434840"/>
            <a:ext cx="3840480" cy="86868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49E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4544568"/>
            <a:ext cx="36210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EXECUTION BRAIN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4864607"/>
            <a:ext cx="3621024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"/>
              </a:rPr>
              <a:t>mission • planning • orchestration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80760" y="3931920"/>
            <a:ext cx="0" cy="502920"/>
          </a:xfrm>
          <a:prstGeom prst="line">
            <a:avLst/>
          </a:prstGeom>
          <a:ln w="19050">
            <a:solidFill>
              <a:srgbClr val="2D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14400" y="5623560"/>
            <a:ext cx="192024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FFA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" y="5733288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WORKER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" y="6053328"/>
            <a:ext cx="1700784" cy="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"/>
              </a:rPr>
              <a:t>specialized execution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874519" y="5303520"/>
            <a:ext cx="4206241" cy="32004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154680" y="5623560"/>
            <a:ext cx="192024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FFA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64408" y="5733288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WORKER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4408" y="6053328"/>
            <a:ext cx="1700784" cy="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"/>
              </a:rPr>
              <a:t>specialized execution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4114800" y="5303520"/>
            <a:ext cx="1965960" cy="32004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394960" y="5623560"/>
            <a:ext cx="192024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FFA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4688" y="5733288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WORKER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4688" y="6053328"/>
            <a:ext cx="1700784" cy="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"/>
              </a:rPr>
              <a:t>specialized execution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80760" y="5303520"/>
            <a:ext cx="274320" cy="32004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635240" y="5623560"/>
            <a:ext cx="1920240" cy="594360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FFA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4967" y="5733288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WORKER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4967" y="6053328"/>
            <a:ext cx="1700784" cy="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"/>
              </a:rPr>
              <a:t>specialized execution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80760" y="5303520"/>
            <a:ext cx="2514600" cy="320040"/>
          </a:xfrm>
          <a:prstGeom prst="line">
            <a:avLst/>
          </a:prstGeom>
          <a:ln w="19050">
            <a:solidFill>
              <a:srgbClr val="00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97280" y="6291072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9DB0C1"/>
                </a:solidFill>
                <a:latin typeface="Aptos Mono"/>
              </a:rPr>
              <a:t>Linux capabilities: Bash • Filesystem • Processes • Browser • Research • Creation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04 / NOVELTY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Novelty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The differentiator is not another chatbot. It is the relationship model + execution architecture.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2057400"/>
            <a:ext cx="3429000" cy="33375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395728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2DD3FF"/>
                </a:solidFill>
                <a:latin typeface="Aptos Mono"/>
              </a:rPr>
              <a:t>PARTNER, NOT PROMPT BOX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218688"/>
            <a:ext cx="297180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EEF6FC"/>
                </a:solidFill>
                <a:latin typeface="Aptos"/>
              </a:rPr>
              <a:t>HADES is designed to behave like an equal working partner: understand the goal, take ownership, and come back with the result.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956048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4928616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9DB0C1"/>
                </a:solidFill>
                <a:latin typeface="Aptos Mono"/>
              </a:rPr>
              <a:t>designed around user intent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2057400"/>
            <a:ext cx="3429000" cy="33375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395728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FFAC52"/>
                </a:solidFill>
                <a:latin typeface="Aptos Mono"/>
              </a:rPr>
              <a:t>WORKER-BASED EXECUTION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218688"/>
            <a:ext cx="297180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EEF6FC"/>
                </a:solidFill>
                <a:latin typeface="Aptos"/>
              </a:rPr>
              <a:t>Specialized workers can perform focused tasks instead of forcing one model to do everything.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956048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FFAC52"/>
                </a:solidFill>
                <a:latin typeface="Aptos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4928616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9DB0C1"/>
                </a:solidFill>
                <a:latin typeface="Aptos Mono"/>
              </a:rPr>
              <a:t>designed around user intent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2057400"/>
            <a:ext cx="3429000" cy="33375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395728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49E29D"/>
                </a:solidFill>
                <a:latin typeface="Aptos Mono"/>
              </a:rPr>
              <a:t>OUTCOME-DRIVEN INTERACTION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218688"/>
            <a:ext cx="297180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EEF6FC"/>
                </a:solidFill>
                <a:latin typeface="Aptos"/>
              </a:rPr>
              <a:t>The user describes what they want achieved. Internal execution detail stays internal unless the user chooses to inspect 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956048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49E29D"/>
                </a:solidFill>
                <a:latin typeface="Aptos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67928" y="4928616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0">
                <a:solidFill>
                  <a:srgbClr val="9DB0C1"/>
                </a:solidFill>
                <a:latin typeface="Aptos Mono"/>
              </a:rPr>
              <a:t>designed around user intent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05 / INNOVATION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Innovation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A practical AI execution layer at the application level — built to work with Linux rather than replace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1920240"/>
            <a:ext cx="5394960" cy="37947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075688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INNOVATION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2395728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2DD3FF"/>
                </a:solidFill>
                <a:latin typeface="Aptos Mono"/>
              </a:rPr>
              <a:t>Natural language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237744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Human intent becomes an executable objective.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017520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2DD3FF"/>
                </a:solidFill>
                <a:latin typeface="Aptos Mono"/>
              </a:rPr>
              <a:t>Autonomous orchestration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2999232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Execution Brain coordinates multi-step work.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639312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2DD3FF"/>
                </a:solidFill>
                <a:latin typeface="Aptos Mono"/>
              </a:rPr>
              <a:t>Worker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3621024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Different models/agents can be assigned to focused jobs.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261104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2DD3FF"/>
                </a:solidFill>
                <a:latin typeface="Aptos Mono"/>
              </a:rPr>
              <a:t>Linux-native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242816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Shell, filesystem, processes and browser capabilities.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88289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2DD3FF"/>
                </a:solidFill>
                <a:latin typeface="Aptos Mono"/>
              </a:rPr>
              <a:t>Verification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95728" y="4864608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Results are intended to be checked before reporting completion.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920240"/>
            <a:ext cx="5349240" cy="37947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2075688"/>
            <a:ext cx="4892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49E29D"/>
                </a:solidFill>
                <a:latin typeface="Aptos Mono"/>
              </a:rPr>
              <a:t>WHY IT MATTERS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2423160"/>
            <a:ext cx="45720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EEF6FC"/>
                </a:solidFill>
                <a:latin typeface="Aptos"/>
              </a:rPr>
              <a:t>AI becomes a collaborator in the operating environment.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3401568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9DB0C1"/>
                </a:solidFill>
                <a:latin typeface="Aptos Mono"/>
              </a:rPr>
              <a:t>Instead of asking: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3685032"/>
            <a:ext cx="42976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FF6767"/>
                </a:solidFill>
                <a:latin typeface="Aptos"/>
              </a:rPr>
              <a:t>“How do I clean this workspace?”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34340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9DB0C1"/>
                </a:solidFill>
                <a:latin typeface="Aptos Mono"/>
              </a:rPr>
              <a:t>HADES is designed around: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626864"/>
            <a:ext cx="45262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49E29D"/>
                </a:solidFill>
                <a:latin typeface="Aptos"/>
              </a:rPr>
              <a:t>“Clean it up safely and tell me when you're done.”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06 /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Data Set Used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No custom training dataset is required for the current application prototype.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1965960"/>
            <a:ext cx="10972800" cy="36118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121408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CURRENT APPROACH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100" b="1">
                <a:solidFill>
                  <a:srgbClr val="2DD3FF"/>
                </a:solidFill>
                <a:latin typeface="Aptos Mono"/>
              </a:rPr>
              <a:t>NONE — NO PROPRIETARY TRAINING DATASET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246120"/>
            <a:ext cx="950976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HADES uses foundation models through configurable model providers.</a:t>
            </a:r>
          </a:p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Task execution can use live system state and tool outputs rather than a pre-collected training corpus.</a:t>
            </a:r>
          </a:p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Research capabilities can retrieve current web information when enabled.</a:t>
            </a:r>
          </a:p>
          <a:p>
            <a:pPr>
              <a:spcAft>
                <a:spcPts val="1100"/>
              </a:spcAft>
              <a:defRPr sz="1500">
                <a:solidFill>
                  <a:srgbClr val="EEF6FC"/>
                </a:solidFill>
                <a:latin typeface="Aptos"/>
              </a:defRPr>
            </a:pPr>
            <a:r>
              <a:t>• User context and memory are used as application state, not as a training dataset.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230368"/>
            <a:ext cx="9509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0">
                <a:solidFill>
                  <a:srgbClr val="9DB0C1"/>
                </a:solidFill>
                <a:latin typeface="Aptos"/>
              </a:rPr>
              <a:t>Future versions could incorporate domain-specific evaluation datasets and task traces to improve reliability.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07 / LINUX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Why Linux?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The hackathon target is an AI-powered application operating at the Linux application layer.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2057400"/>
            <a:ext cx="3429000" cy="31546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39572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2DD3FF"/>
                </a:solidFill>
                <a:latin typeface="Aptos Mono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97180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0">
                <a:solidFill>
                  <a:srgbClr val="EEF6FC"/>
                </a:solidFill>
                <a:latin typeface="Aptos"/>
              </a:rPr>
              <a:t>Direct access to the shell, filesystem and processes gives HADES a real execution environment.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2057400"/>
            <a:ext cx="3429000" cy="31546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239572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49E29D"/>
                </a:solidFill>
                <a:latin typeface="Aptos Mono"/>
              </a:rPr>
              <a:t>COMPOSABILITY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297180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0">
                <a:solidFill>
                  <a:srgbClr val="EEF6FC"/>
                </a:solidFill>
                <a:latin typeface="Aptos"/>
              </a:rPr>
              <a:t>Linux tools can be chained into workflows without forcing every capability into one monolithic AI.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2057400"/>
            <a:ext cx="3429000" cy="31546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39572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FAC52"/>
                </a:solidFill>
                <a:latin typeface="Aptos Mono"/>
              </a:rPr>
              <a:t>OPEN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97180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0">
                <a:solidFill>
                  <a:srgbClr val="EEF6FC"/>
                </a:solidFill>
                <a:latin typeface="Aptos"/>
              </a:rPr>
              <a:t>The application can work with the developer's existing tools, files and workflows.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468112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0">
                <a:solidFill>
                  <a:srgbClr val="9DB0C1"/>
                </a:solidFill>
                <a:latin typeface="Aptos"/>
              </a:rPr>
              <a:t>Windows + WSL can be used as the development/test environment; the target experience is HADES running as a Linux application.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08 /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What the Demo Will 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One complete mission — not a slideshow of disconnected features.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1874519"/>
            <a:ext cx="10972800" cy="384048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2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029967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END-TO-END DEMONSTRATION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2487168"/>
            <a:ext cx="566928" cy="566928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7" y="2596896"/>
            <a:ext cx="3474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2468880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D3FF"/>
                </a:solidFill>
                <a:latin typeface="Aptos Mono"/>
              </a:rPr>
              <a:t>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2798064"/>
            <a:ext cx="2514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Gives HADES a real outcome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2487168"/>
            <a:ext cx="566928" cy="566928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596896"/>
            <a:ext cx="3474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2468880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D3FF"/>
                </a:solidFill>
                <a:latin typeface="Aptos Mono"/>
              </a:rPr>
              <a:t>HADES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2798064"/>
            <a:ext cx="2514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Understands intent and commits to the task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2487168"/>
            <a:ext cx="566928" cy="566928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93607" y="2596896"/>
            <a:ext cx="3474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2468880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D3FF"/>
                </a:solidFill>
                <a:latin typeface="Aptos Mono"/>
              </a:rPr>
              <a:t>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2798064"/>
            <a:ext cx="2514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Breaks the work into executable steps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3904488"/>
            <a:ext cx="566928" cy="566928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7" y="4014216"/>
            <a:ext cx="3474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3886200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D3FF"/>
                </a:solidFill>
                <a:latin typeface="Aptos Mono"/>
              </a:rPr>
              <a:t>WORKERS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0200" y="4215384"/>
            <a:ext cx="2514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Specialized workers perform the work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26280" y="3904488"/>
            <a:ext cx="566928" cy="566928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36008" y="4014216"/>
            <a:ext cx="3474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3886200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D3FF"/>
                </a:solidFill>
                <a:latin typeface="Aptos Mono"/>
              </a:rPr>
              <a:t>LINUX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4215384"/>
            <a:ext cx="2514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Files / shell / browser / research are used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83879" y="3904488"/>
            <a:ext cx="566928" cy="566928"/>
          </a:xfrm>
          <a:prstGeom prst="roundRect">
            <a:avLst/>
          </a:prstGeom>
          <a:solidFill>
            <a:srgbClr val="0D1C2B"/>
          </a:solidFill>
          <a:ln w="1905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3607" y="4014216"/>
            <a:ext cx="3474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EEF6FC"/>
                </a:solidFill>
                <a:latin typeface="Aptos Mono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3886200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D3FF"/>
                </a:solidFill>
                <a:latin typeface="Aptos Mono"/>
              </a:rPr>
              <a:t>RESULT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4215384"/>
            <a:ext cx="2514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EEF6FC"/>
                </a:solidFill>
                <a:latin typeface="Aptos"/>
              </a:rPr>
              <a:t>HADES verifies and returns with a clean outcome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500" b="1">
                <a:solidFill>
                  <a:srgbClr val="49E29D"/>
                </a:solidFill>
                <a:latin typeface="Aptos"/>
              </a:rPr>
              <a:t>The point: the user delegates an outcome, not a sequence of commands.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60704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9105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12140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5176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182111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71246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242816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773168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33872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64223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94575"/>
            <a:ext cx="12191695" cy="7315"/>
          </a:xfrm>
          <a:prstGeom prst="rect">
            <a:avLst/>
          </a:prstGeom>
          <a:solidFill>
            <a:srgbClr val="12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2DD3FF"/>
                </a:solidFill>
                <a:latin typeface="Aptos Mono"/>
              </a:rPr>
              <a:t>09 / CLOSING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EEF6FC"/>
                </a:solidFill>
                <a:latin typeface="Aptos"/>
              </a:rPr>
              <a:t>The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3990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9DB0C1"/>
                </a:solidFill>
                <a:latin typeface="Aptos"/>
              </a:rPr>
              <a:t>HADES is intended to make the computer feel less like a collection of applications and more like a capable partner.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116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000" b="1">
                <a:solidFill>
                  <a:srgbClr val="EEF6FC"/>
                </a:solidFill>
                <a:latin typeface="Aptos"/>
              </a:rPr>
              <a:t>“Tell it what needs to happen.
Let it handle the work.”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3886200"/>
            <a:ext cx="1325880" cy="347472"/>
          </a:xfrm>
          <a:prstGeom prst="roundRect">
            <a:avLst/>
          </a:prstGeom>
          <a:solidFill>
            <a:srgbClr val="0D1C2B"/>
          </a:solidFill>
          <a:ln w="12700"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904487"/>
            <a:ext cx="1325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2DD3FF"/>
                </a:solidFill>
                <a:latin typeface="Aptos Mono"/>
              </a:rPr>
              <a:t>PARTNER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87168" y="3886200"/>
            <a:ext cx="1600200" cy="347472"/>
          </a:xfrm>
          <a:prstGeom prst="roundRect">
            <a:avLst/>
          </a:prstGeom>
          <a:solidFill>
            <a:srgbClr val="0D1C2B"/>
          </a:solidFill>
          <a:ln w="12700">
            <a:solidFill>
              <a:srgbClr val="49E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7168" y="3904487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49E29D"/>
                </a:solidFill>
                <a:latin typeface="Aptos Mono"/>
              </a:rPr>
              <a:t>EXECUTOR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15968" y="3886200"/>
            <a:ext cx="1417320" cy="347472"/>
          </a:xfrm>
          <a:prstGeom prst="roundRect">
            <a:avLst/>
          </a:prstGeom>
          <a:solidFill>
            <a:srgbClr val="0D1C2B"/>
          </a:solidFill>
          <a:ln w="12700">
            <a:solidFill>
              <a:srgbClr val="FFA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3904487"/>
            <a:ext cx="14173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FFAC52"/>
                </a:solidFill>
                <a:latin typeface="Aptos Mono"/>
              </a:rPr>
              <a:t>WORKERS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14884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2DD3FF"/>
                </a:solidFill>
                <a:latin typeface="Aptos Mono"/>
              </a:rP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606040"/>
            <a:ext cx="3886200" cy="2103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EEF6FC"/>
                </a:solidFill>
                <a:latin typeface="Aptos"/>
              </a:defRPr>
            </a:pPr>
            <a:r>
              <a:t>• Harden the Linux execution loop</a:t>
            </a:r>
          </a:p>
          <a:p>
            <a:pPr>
              <a:spcAft>
                <a:spcPts val="1100"/>
              </a:spcAft>
              <a:defRPr sz="1400">
                <a:solidFill>
                  <a:srgbClr val="EEF6FC"/>
                </a:solidFill>
                <a:latin typeface="Aptos"/>
              </a:defRPr>
            </a:pPr>
            <a:r>
              <a:t>• Strengthen verification and recovery</a:t>
            </a:r>
          </a:p>
          <a:p>
            <a:pPr>
              <a:spcAft>
                <a:spcPts val="1100"/>
              </a:spcAft>
              <a:defRPr sz="1400">
                <a:solidFill>
                  <a:srgbClr val="EEF6FC"/>
                </a:solidFill>
                <a:latin typeface="Aptos"/>
              </a:defRPr>
            </a:pPr>
            <a:r>
              <a:t>• Expand worker capabilities</a:t>
            </a:r>
          </a:p>
          <a:p>
            <a:pPr>
              <a:spcAft>
                <a:spcPts val="1100"/>
              </a:spcAft>
              <a:defRPr sz="1400">
                <a:solidFill>
                  <a:srgbClr val="EEF6FC"/>
                </a:solidFill>
                <a:latin typeface="Aptos"/>
              </a:defRPr>
            </a:pPr>
            <a:r>
              <a:t>• Refine the partner-style UX and voice interaction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983480"/>
            <a:ext cx="3474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2DD3FF"/>
                </a:solidFill>
                <a:latin typeface="Aptos Mono"/>
              </a:rPr>
              <a:t>HADES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468112"/>
            <a:ext cx="3931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9DB0C1"/>
                </a:solidFill>
                <a:latin typeface="Aptos"/>
              </a:rPr>
              <a:t>AI that works with you — not just talks to you.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00" b="0">
                <a:solidFill>
                  <a:srgbClr val="9DB0C1"/>
                </a:solidFill>
                <a:latin typeface="Aptos Mono"/>
              </a:rPr>
              <a:t>HADES  /  OPEN INNOVATION — LINUX BASED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2DD3FF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