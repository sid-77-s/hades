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256032"/>
            <a:ext cx="6702552" cy="274320"/>
          </a:xfrm>
          <a:prstGeom prst="rect">
            <a:avLst/>
          </a:prstGeom>
          <a:solidFill>
            <a:srgbClr val="14083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92608"/>
            <a:ext cx="661111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HACKATHON BUILD  ·  AI SYSTEMS ENGINEERING  · 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005840"/>
            <a:ext cx="121889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0" b="1" i="0">
                <a:solidFill>
                  <a:srgbClr val="FFFFFF"/>
                </a:solidFill>
                <a:latin typeface="Calibri"/>
              </a:rPr>
              <a:t>H A D E 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926080"/>
            <a:ext cx="94457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063240"/>
            <a:ext cx="12188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FROM AI ASSISTANT  →  AI OPERATING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3703320"/>
            <a:ext cx="1371600" cy="457200"/>
          </a:xfrm>
          <a:prstGeom prst="rect">
            <a:avLst/>
          </a:prstGeom>
          <a:solidFill>
            <a:srgbClr val="121228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3794759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HUMAN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3794759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Calibri"/>
              </a:rPr>
              <a:t>  →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3703320"/>
            <a:ext cx="1371600" cy="457200"/>
          </a:xfrm>
          <a:prstGeom prst="rect">
            <a:avLst/>
          </a:prstGeom>
          <a:solidFill>
            <a:srgbClr val="5B21B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794759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3794759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Calibri"/>
              </a:rPr>
              <a:t>  →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3703320"/>
            <a:ext cx="2743200" cy="457200"/>
          </a:xfrm>
          <a:prstGeom prst="rect">
            <a:avLst/>
          </a:prstGeom>
          <a:solidFill>
            <a:srgbClr val="181835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3794759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MODELS + TOOLS +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3794759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Calibri"/>
              </a:rPr>
              <a:t>  →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3703320"/>
            <a:ext cx="1554480" cy="457200"/>
          </a:xfrm>
          <a:prstGeom prst="rect">
            <a:avLst/>
          </a:prstGeom>
          <a:solidFill>
            <a:srgbClr val="041E10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3794759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REAL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407408"/>
            <a:ext cx="944575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4544568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The user should manage the goal — not the intelligence required to achieve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0749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Linux-Native  ·  Model-Agnostic  ·  Mission-Locked  ·  Verified Execution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"/>
            <a:ext cx="11640312" cy="256032"/>
          </a:xfrm>
          <a:prstGeom prst="rect">
            <a:avLst/>
          </a:prstGeom>
          <a:solidFill>
            <a:srgbClr val="14083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AI Problem Is Not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241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8BFA"/>
                </a:solidFill>
                <a:latin typeface="Calibri"/>
              </a:rPr>
              <a:t>It Is Orchestration.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4031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760720" cy="292608"/>
          </a:xfrm>
          <a:prstGeom prst="rect">
            <a:avLst/>
          </a:prstGeom>
          <a:solidFill>
            <a:srgbClr val="1408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9344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TODAY'S REALITY — YOU ARE THE ORCHESTRATOR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38528"/>
            <a:ext cx="2697480" cy="438912"/>
          </a:xfrm>
          <a:prstGeom prst="rect">
            <a:avLst/>
          </a:prstGeom>
          <a:solidFill>
            <a:srgbClr val="181835"/>
          </a:solidFill>
          <a:ln w="762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75104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🔍 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85416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39" y="1938528"/>
            <a:ext cx="2697480" cy="438912"/>
          </a:xfrm>
          <a:prstGeom prst="rect">
            <a:avLst/>
          </a:prstGeom>
          <a:solidFill>
            <a:srgbClr val="181835"/>
          </a:solidFill>
          <a:ln w="762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1975104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💻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2185416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68880"/>
            <a:ext cx="2697480" cy="438912"/>
          </a:xfrm>
          <a:prstGeom prst="rect">
            <a:avLst/>
          </a:prstGeom>
          <a:solidFill>
            <a:srgbClr val="181835"/>
          </a:solidFill>
          <a:ln w="762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505456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✍  ChatGPT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15768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Writing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39" y="2468880"/>
            <a:ext cx="2697480" cy="438912"/>
          </a:xfrm>
          <a:prstGeom prst="rect">
            <a:avLst/>
          </a:prstGeom>
          <a:solidFill>
            <a:srgbClr val="181835"/>
          </a:solidFill>
          <a:ln w="762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79" y="2505456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📝 Notion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2715768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Notes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99232"/>
            <a:ext cx="2697480" cy="438912"/>
          </a:xfrm>
          <a:prstGeom prst="rect">
            <a:avLst/>
          </a:prstGeom>
          <a:solidFill>
            <a:srgbClr val="181835"/>
          </a:solidFill>
          <a:ln w="762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035808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⚡ Zapier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246120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Automation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39" y="2999232"/>
            <a:ext cx="2697480" cy="438912"/>
          </a:xfrm>
          <a:prstGeom prst="rect">
            <a:avLst/>
          </a:prstGeom>
          <a:solidFill>
            <a:srgbClr val="181835"/>
          </a:solidFill>
          <a:ln w="762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79" y="3035808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📅 Calendar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79" y="3246120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Scheduling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79" y="2468880"/>
            <a:ext cx="1554480" cy="420624"/>
          </a:xfrm>
          <a:prstGeom prst="rect">
            <a:avLst/>
          </a:prstGeom>
          <a:solidFill>
            <a:srgbClr val="25050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40279" y="25054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  <a:latin typeface="Calibri"/>
              </a:rPr>
              <a:t>YOU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547872"/>
            <a:ext cx="5760720" cy="292608"/>
          </a:xfrm>
          <a:prstGeom prst="rect">
            <a:avLst/>
          </a:prstGeom>
          <a:solidFill>
            <a:srgbClr val="1C0505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60273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  <a:latin typeface="Calibri"/>
              </a:rPr>
              <a:t>Context is lost between every session. Every model starts fresh. Orchestration belongs to you.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554480"/>
            <a:ext cx="5760720" cy="292608"/>
          </a:xfrm>
          <a:prstGeom prst="rect">
            <a:avLst/>
          </a:prstGeom>
          <a:solidFill>
            <a:srgbClr val="1408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79" y="1609344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THE HIDDEN COGNITIVE TAX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938528"/>
            <a:ext cx="5760720" cy="457200"/>
          </a:xfrm>
          <a:prstGeom prst="rect">
            <a:avLst/>
          </a:prstGeom>
          <a:solidFill>
            <a:srgbClr val="1C0505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1975104"/>
            <a:ext cx="5541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Context switching between 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2185416"/>
            <a:ext cx="5541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Every task requires switching mental context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487168"/>
            <a:ext cx="5760720" cy="457200"/>
          </a:xfrm>
          <a:prstGeom prst="rect">
            <a:avLst/>
          </a:prstGeom>
          <a:solidFill>
            <a:srgbClr val="1C0505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2523744"/>
            <a:ext cx="5541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Repeating yourself to every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2734056"/>
            <a:ext cx="5541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No shared memory across AI systems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035808"/>
            <a:ext cx="5760720" cy="457200"/>
          </a:xfrm>
          <a:prstGeom prst="rect">
            <a:avLst/>
          </a:prstGeom>
          <a:solidFill>
            <a:srgbClr val="1C0505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368" y="3072384"/>
            <a:ext cx="5541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Manually selecting the right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3368" y="3282696"/>
            <a:ext cx="5541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Which model? For what? At what cost?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584448"/>
            <a:ext cx="5760720" cy="457200"/>
          </a:xfrm>
          <a:prstGeom prst="rect">
            <a:avLst/>
          </a:prstGeom>
          <a:solidFill>
            <a:srgbClr val="1C0505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3621024"/>
            <a:ext cx="5541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Managing workflow sequencing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3831335"/>
            <a:ext cx="5541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You plan, you delegate, you track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133087"/>
            <a:ext cx="5760720" cy="457200"/>
          </a:xfrm>
          <a:prstGeom prst="rect">
            <a:avLst/>
          </a:prstGeom>
          <a:solidFill>
            <a:srgbClr val="1C0505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3368" y="4169663"/>
            <a:ext cx="5541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Context lost between sessions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3368" y="4379975"/>
            <a:ext cx="5541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Yesterday's work is invisible today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681728"/>
            <a:ext cx="5760720" cy="457200"/>
          </a:xfrm>
          <a:prstGeom prst="rect">
            <a:avLst/>
          </a:prstGeom>
          <a:solidFill>
            <a:srgbClr val="1C0505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3368" y="4718304"/>
            <a:ext cx="5541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Decision fatigue from tool sprawl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3368" y="4928616"/>
            <a:ext cx="5541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10+ tools = 10x the cognitive overhead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309360"/>
            <a:ext cx="1164031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0" y="641908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Calibri"/>
              </a:rPr>
              <a:t>Today's AI gives humans MORE capabilities.  HADES removes the burden of coordinating them.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"/>
            <a:ext cx="11640312" cy="256032"/>
          </a:xfrm>
          <a:prstGeom prst="rect">
            <a:avLst/>
          </a:prstGeom>
          <a:solidFill>
            <a:srgbClr val="14083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HADES Sets Out to Achieve.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241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8BFA"/>
                </a:solidFill>
                <a:latin typeface="Calibri"/>
              </a:rPr>
              <a:t>A single AI layer that orchestrates everything, so you don't have 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4031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11640312" cy="777240"/>
          </a:xfrm>
          <a:prstGeom prst="rect">
            <a:avLst/>
          </a:prstGeom>
          <a:solidFill>
            <a:srgbClr val="14083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Build an AI Operating System that converts human intent into verified, system-level action — through conversation, structured mission planning, multi-model orchestration, and outcome validation.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14600"/>
            <a:ext cx="3813048" cy="1024128"/>
          </a:xfrm>
          <a:prstGeom prst="rect">
            <a:avLst/>
          </a:prstGeom>
          <a:solidFill>
            <a:srgbClr val="181835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578608"/>
            <a:ext cx="3593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01  ELIMINATE ORCHESTRATION BURDEN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880360"/>
            <a:ext cx="35935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The user expresses a goal. HADES determines which models, tools, and sequences are needed — invisibly.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7" y="2514600"/>
            <a:ext cx="3813048" cy="1024128"/>
          </a:xfrm>
          <a:prstGeom prst="rect">
            <a:avLst/>
          </a:prstGeom>
          <a:solidFill>
            <a:srgbClr val="181835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8536" y="2578608"/>
            <a:ext cx="3593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02  CONVERSATION BEFORE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880360"/>
            <a:ext cx="35935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No AI action without mutual understanding. HADES aligns on objective, outcome, and constraints before touching the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2514600"/>
            <a:ext cx="3813048" cy="1024128"/>
          </a:xfrm>
          <a:prstGeom prst="rect">
            <a:avLst/>
          </a:prstGeom>
          <a:solidFill>
            <a:srgbClr val="181835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2578608"/>
            <a:ext cx="3593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03  MISSION-CENTRIC COMPUTING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880360"/>
            <a:ext cx="35935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Replace disposable prompts with persistent Mission objects — structured, stateful, and validated end-to-end.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30168"/>
            <a:ext cx="3813048" cy="1024128"/>
          </a:xfrm>
          <a:prstGeom prst="rect">
            <a:avLst/>
          </a:prstGeom>
          <a:solidFill>
            <a:srgbClr val="181835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694176"/>
            <a:ext cx="3593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04  MODEL AGNOSTICISM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995928"/>
            <a:ext cx="35935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No vendor lock-in. Gemini, Groq, OpenRouter, Ollama — all interchangeable via a unified LiteLLM abstraction layer.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8807" y="3630168"/>
            <a:ext cx="3813048" cy="1024128"/>
          </a:xfrm>
          <a:prstGeom prst="rect">
            <a:avLst/>
          </a:prstGeom>
          <a:solidFill>
            <a:srgbClr val="181835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3694176"/>
            <a:ext cx="3593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05  VERIFIED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8536" y="3995928"/>
            <a:ext cx="35935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Workers generate output. The Review Engine validates it. Generation is not success — the mission criteria define success.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3296" y="3630168"/>
            <a:ext cx="3813048" cy="1024128"/>
          </a:xfrm>
          <a:prstGeom prst="rect">
            <a:avLst/>
          </a:prstGeom>
          <a:solidFill>
            <a:srgbClr val="181835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3" y="3694176"/>
            <a:ext cx="3593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06  LINUX-NATIVE OPERATION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3" y="3995928"/>
            <a:ext cx="35935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Terminal execution, filesystem control, process management — all running natively on the host Linux system with local TTS and local AI.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"/>
            <a:ext cx="11640312" cy="256032"/>
          </a:xfrm>
          <a:prstGeom prst="rect">
            <a:avLst/>
          </a:prstGeom>
          <a:solidFill>
            <a:srgbClr val="14083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MARKET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Existing AI Systems Fall Short.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241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8BFA"/>
                </a:solidFill>
                <a:latin typeface="Calibri"/>
              </a:rPr>
              <a:t>11-dimension comparison across Traditional AI, AI Agents, and HADES.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4031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4572000" cy="347472"/>
          </a:xfrm>
          <a:prstGeom prst="rect">
            <a:avLst/>
          </a:prstGeom>
          <a:solidFill>
            <a:srgbClr val="140838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618488"/>
            <a:ext cx="4425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  <a:latin typeface="Calibri"/>
              </a:rP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554480"/>
            <a:ext cx="2468880" cy="347472"/>
          </a:xfrm>
          <a:prstGeom prst="rect">
            <a:avLst/>
          </a:prstGeom>
          <a:solidFill>
            <a:srgbClr val="181835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618488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Calibri"/>
              </a:rPr>
              <a:t>TRADITIONAL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554480"/>
            <a:ext cx="2331720" cy="347472"/>
          </a:xfrm>
          <a:prstGeom prst="rect">
            <a:avLst/>
          </a:prstGeom>
          <a:solidFill>
            <a:srgbClr val="181835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71231" y="1618488"/>
            <a:ext cx="2185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Calibri"/>
              </a:rPr>
              <a:t>AI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1554480"/>
            <a:ext cx="2148840" cy="347472"/>
          </a:xfrm>
          <a:prstGeom prst="rect">
            <a:avLst/>
          </a:prstGeom>
          <a:solidFill>
            <a:srgbClr val="5B21B6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94392" y="1618488"/>
            <a:ext cx="2002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HADES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47672"/>
            <a:ext cx="4572000" cy="374904"/>
          </a:xfrm>
          <a:prstGeom prst="rect">
            <a:avLst/>
          </a:prstGeom>
          <a:solidFill>
            <a:srgbClr val="121228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039112"/>
            <a:ext cx="4389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947672"/>
            <a:ext cx="2468880" cy="374904"/>
          </a:xfrm>
          <a:prstGeom prst="rect">
            <a:avLst/>
          </a:prstGeom>
          <a:solidFill>
            <a:srgbClr val="041E10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002536"/>
            <a:ext cx="2468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947672"/>
            <a:ext cx="2331720" cy="374904"/>
          </a:xfrm>
          <a:prstGeom prst="rect">
            <a:avLst/>
          </a:prstGeom>
          <a:solidFill>
            <a:srgbClr val="1C1402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002536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1947672"/>
            <a:ext cx="2148840" cy="374904"/>
          </a:xfrm>
          <a:prstGeom prst="rect">
            <a:avLst/>
          </a:prstGeom>
          <a:solidFill>
            <a:srgbClr val="041E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002536"/>
            <a:ext cx="2148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40864"/>
            <a:ext cx="4572000" cy="374904"/>
          </a:xfrm>
          <a:prstGeom prst="rect">
            <a:avLst/>
          </a:prstGeom>
          <a:solidFill>
            <a:srgbClr val="0A0A14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432304"/>
            <a:ext cx="4389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Persistent 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340864"/>
            <a:ext cx="246888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2395728"/>
            <a:ext cx="2468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340864"/>
            <a:ext cx="233172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2395728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2340864"/>
            <a:ext cx="2148840" cy="374904"/>
          </a:xfrm>
          <a:prstGeom prst="rect">
            <a:avLst/>
          </a:prstGeom>
          <a:solidFill>
            <a:srgbClr val="041E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2395728"/>
            <a:ext cx="2148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734056"/>
            <a:ext cx="4572000" cy="374904"/>
          </a:xfrm>
          <a:prstGeom prst="rect">
            <a:avLst/>
          </a:prstGeom>
          <a:solidFill>
            <a:srgbClr val="121228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825496"/>
            <a:ext cx="4389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Long-Term Memory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2734056"/>
            <a:ext cx="246888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2788920"/>
            <a:ext cx="2468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2734056"/>
            <a:ext cx="2331720" cy="374904"/>
          </a:xfrm>
          <a:prstGeom prst="rect">
            <a:avLst/>
          </a:prstGeom>
          <a:solidFill>
            <a:srgbClr val="1C1402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2788920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2734056"/>
            <a:ext cx="2148840" cy="374904"/>
          </a:xfrm>
          <a:prstGeom prst="rect">
            <a:avLst/>
          </a:prstGeom>
          <a:solidFill>
            <a:srgbClr val="1C140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2788920"/>
            <a:ext cx="2148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127248"/>
            <a:ext cx="4572000" cy="374904"/>
          </a:xfrm>
          <a:prstGeom prst="rect">
            <a:avLst/>
          </a:prstGeom>
          <a:solidFill>
            <a:srgbClr val="0A0A14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218688"/>
            <a:ext cx="4389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Goal Understanding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127248"/>
            <a:ext cx="2468880" cy="374904"/>
          </a:xfrm>
          <a:prstGeom prst="rect">
            <a:avLst/>
          </a:prstGeom>
          <a:solidFill>
            <a:srgbClr val="1C1402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3182112"/>
            <a:ext cx="2468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3127248"/>
            <a:ext cx="2331720" cy="374904"/>
          </a:xfrm>
          <a:prstGeom prst="rect">
            <a:avLst/>
          </a:prstGeom>
          <a:solidFill>
            <a:srgbClr val="1C1402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79" y="3182112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21240" y="3127248"/>
            <a:ext cx="2148840" cy="374904"/>
          </a:xfrm>
          <a:prstGeom prst="rect">
            <a:avLst/>
          </a:prstGeom>
          <a:solidFill>
            <a:srgbClr val="041E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3182112"/>
            <a:ext cx="2148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520440"/>
            <a:ext cx="4572000" cy="374904"/>
          </a:xfrm>
          <a:prstGeom prst="rect">
            <a:avLst/>
          </a:prstGeom>
          <a:solidFill>
            <a:srgbClr val="121228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611880"/>
            <a:ext cx="4389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Human Alignment Gate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3520440"/>
            <a:ext cx="246888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3575304"/>
            <a:ext cx="2468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79" y="3520440"/>
            <a:ext cx="233172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79" y="35753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21240" y="3520440"/>
            <a:ext cx="2148840" cy="374904"/>
          </a:xfrm>
          <a:prstGeom prst="rect">
            <a:avLst/>
          </a:prstGeom>
          <a:solidFill>
            <a:srgbClr val="041E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21240" y="3575304"/>
            <a:ext cx="2148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13632"/>
            <a:ext cx="4572000" cy="374904"/>
          </a:xfrm>
          <a:prstGeom prst="rect">
            <a:avLst/>
          </a:prstGeom>
          <a:solidFill>
            <a:srgbClr val="0A0A14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4005072"/>
            <a:ext cx="4389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Multi-Model Orchestration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60" y="3913632"/>
            <a:ext cx="246888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7760" y="3968496"/>
            <a:ext cx="2468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3913632"/>
            <a:ext cx="2331720" cy="374904"/>
          </a:xfrm>
          <a:prstGeom prst="rect">
            <a:avLst/>
          </a:prstGeom>
          <a:solidFill>
            <a:srgbClr val="1C1402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79" y="3968496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21240" y="3913632"/>
            <a:ext cx="2148840" cy="374904"/>
          </a:xfrm>
          <a:prstGeom prst="rect">
            <a:avLst/>
          </a:prstGeom>
          <a:solidFill>
            <a:srgbClr val="041E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21240" y="3968496"/>
            <a:ext cx="2148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306824"/>
            <a:ext cx="4572000" cy="374904"/>
          </a:xfrm>
          <a:prstGeom prst="rect">
            <a:avLst/>
          </a:prstGeom>
          <a:solidFill>
            <a:srgbClr val="121228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4398264"/>
            <a:ext cx="4389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Background Execution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37760" y="4306824"/>
            <a:ext cx="246888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37760" y="4361688"/>
            <a:ext cx="2468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79" y="4306824"/>
            <a:ext cx="2331720" cy="374904"/>
          </a:xfrm>
          <a:prstGeom prst="rect">
            <a:avLst/>
          </a:prstGeom>
          <a:solidFill>
            <a:srgbClr val="041E10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98079" y="4361688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21240" y="4306824"/>
            <a:ext cx="2148840" cy="374904"/>
          </a:xfrm>
          <a:prstGeom prst="rect">
            <a:avLst/>
          </a:prstGeom>
          <a:solidFill>
            <a:srgbClr val="041E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21240" y="4361688"/>
            <a:ext cx="2148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700016"/>
            <a:ext cx="4572000" cy="374904"/>
          </a:xfrm>
          <a:prstGeom prst="rect">
            <a:avLst/>
          </a:prstGeom>
          <a:solidFill>
            <a:srgbClr val="0A0A14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791455"/>
            <a:ext cx="4389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Output Validation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37760" y="4700016"/>
            <a:ext cx="246888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37760" y="4754879"/>
            <a:ext cx="2468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98079" y="4700016"/>
            <a:ext cx="233172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98079" y="4754879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921240" y="4700016"/>
            <a:ext cx="2148840" cy="374904"/>
          </a:xfrm>
          <a:prstGeom prst="rect">
            <a:avLst/>
          </a:prstGeom>
          <a:solidFill>
            <a:srgbClr val="041E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21240" y="4754879"/>
            <a:ext cx="2148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093207"/>
            <a:ext cx="4572000" cy="374904"/>
          </a:xfrm>
          <a:prstGeom prst="rect">
            <a:avLst/>
          </a:prstGeom>
          <a:solidFill>
            <a:srgbClr val="121228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5184647"/>
            <a:ext cx="4389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Human Goal Authority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37760" y="5093207"/>
            <a:ext cx="246888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37760" y="5148071"/>
            <a:ext cx="2468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79" y="5093207"/>
            <a:ext cx="233172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98079" y="5148071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921240" y="5093207"/>
            <a:ext cx="2148840" cy="374904"/>
          </a:xfrm>
          <a:prstGeom prst="rect">
            <a:avLst/>
          </a:prstGeom>
          <a:solidFill>
            <a:srgbClr val="041E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921240" y="5148071"/>
            <a:ext cx="2148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5486399"/>
            <a:ext cx="4572000" cy="374904"/>
          </a:xfrm>
          <a:prstGeom prst="rect">
            <a:avLst/>
          </a:prstGeom>
          <a:solidFill>
            <a:srgbClr val="0A0A14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5577839"/>
            <a:ext cx="4389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Continuous Relationship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37760" y="5486399"/>
            <a:ext cx="246888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37760" y="5541263"/>
            <a:ext cx="2468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98079" y="5486399"/>
            <a:ext cx="233172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498079" y="5541263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921240" y="5486399"/>
            <a:ext cx="2148840" cy="374904"/>
          </a:xfrm>
          <a:prstGeom prst="rect">
            <a:avLst/>
          </a:prstGeom>
          <a:solidFill>
            <a:srgbClr val="1C140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921240" y="5541263"/>
            <a:ext cx="2148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5879591"/>
            <a:ext cx="4572000" cy="374904"/>
          </a:xfrm>
          <a:prstGeom prst="rect">
            <a:avLst/>
          </a:prstGeom>
          <a:solidFill>
            <a:srgbClr val="121228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5971031"/>
            <a:ext cx="4389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Local / Offline AI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937760" y="5879591"/>
            <a:ext cx="2468880" cy="374904"/>
          </a:xfrm>
          <a:prstGeom prst="rect">
            <a:avLst/>
          </a:prstGeom>
          <a:solidFill>
            <a:srgbClr val="1C0505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937760" y="5934455"/>
            <a:ext cx="2468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498079" y="5879591"/>
            <a:ext cx="2331720" cy="374904"/>
          </a:xfrm>
          <a:prstGeom prst="rect">
            <a:avLst/>
          </a:prstGeom>
          <a:solidFill>
            <a:srgbClr val="1C1402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498079" y="5934455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921240" y="5879591"/>
            <a:ext cx="2148840" cy="374904"/>
          </a:xfrm>
          <a:prstGeom prst="rect">
            <a:avLst/>
          </a:prstGeom>
          <a:solidFill>
            <a:srgbClr val="041E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21240" y="5934455"/>
            <a:ext cx="2148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6345935"/>
            <a:ext cx="11640312" cy="347472"/>
          </a:xfrm>
          <a:prstGeom prst="rect">
            <a:avLst/>
          </a:prstGeom>
          <a:solidFill>
            <a:srgbClr val="140838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11480" y="6409943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  <a:latin typeface="Calibri"/>
              </a:rPr>
              <a:t>✓ = Implemented   ~= Partial   ✗ = Missing   |   HADES targets the full-row solution no existing system achieves.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"/>
            <a:ext cx="11640312" cy="256032"/>
          </a:xfrm>
          <a:prstGeom prst="rect">
            <a:avLst/>
          </a:prstGeom>
          <a:solidFill>
            <a:srgbClr val="14083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One Partner. Multiple Brains. Many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241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8BFA"/>
                </a:solidFill>
                <a:latin typeface="Calibri"/>
              </a:rPr>
              <a:t>Layered AI OS architecture with strict separation of conversation and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4031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11640312" cy="512064"/>
          </a:xfrm>
          <a:prstGeom prst="rect">
            <a:avLst/>
          </a:prstGeom>
          <a:solidFill>
            <a:srgbClr val="121228"/>
          </a:solidFill>
          <a:ln w="1143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Goal  ·  Context  ·  Approval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1673352"/>
            <a:ext cx="1828800" cy="274320"/>
          </a:xfrm>
          <a:prstGeom prst="rect">
            <a:avLst/>
          </a:prstGeom>
          <a:solidFill>
            <a:srgbClr val="121228"/>
          </a:solidFill>
          <a:ln w="889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04120" y="17099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  <a:latin typeface="Calibri"/>
              </a:rPr>
              <a:t>HUMAN IN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66543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49424"/>
            <a:ext cx="11640312" cy="512064"/>
          </a:xfrm>
          <a:prstGeom prst="rect">
            <a:avLst/>
          </a:prstGeom>
          <a:solidFill>
            <a:srgbClr val="041E10"/>
          </a:solidFill>
          <a:ln w="1143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9514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PARTNER BRAIN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523744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Intent Classification  |  Mission Extraction  |  Understanding Evaluation  |  Conversational Alignment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633472"/>
            <a:ext cx="8412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partner_brain.py · intent_classifier.py · understanding_evaluator.py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2368296"/>
            <a:ext cx="1828800" cy="274320"/>
          </a:xfrm>
          <a:prstGeom prst="rect">
            <a:avLst/>
          </a:prstGeom>
          <a:solidFill>
            <a:srgbClr val="041E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04120" y="24048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76148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44368"/>
            <a:ext cx="11640312" cy="512064"/>
          </a:xfrm>
          <a:prstGeom prst="rect">
            <a:avLst/>
          </a:prstGeom>
          <a:solidFill>
            <a:srgbClr val="5B21B6"/>
          </a:solidFill>
          <a:ln w="1143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990087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🔒  MISSION 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218687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MUTUAL UNDERSTANDING GATE — Execution is gated until all mission fields + mutual_understanding_reached =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328415"/>
            <a:ext cx="8412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understanding_evaluator.py · mission.py → MissionStatus.AUTHORIZED_EXECUTION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3063239"/>
            <a:ext cx="1828800" cy="274320"/>
          </a:xfrm>
          <a:prstGeom prst="rect">
            <a:avLst/>
          </a:prstGeom>
          <a:solidFill>
            <a:srgbClr val="5B21B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309981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IMPLEMENTED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4564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639311"/>
            <a:ext cx="11640312" cy="512064"/>
          </a:xfrm>
          <a:prstGeom prst="rect">
            <a:avLst/>
          </a:prstGeom>
          <a:solidFill>
            <a:srgbClr val="1C1402"/>
          </a:solidFill>
          <a:ln w="1143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685031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EXECUTIVE BRAIN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913631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Task Graph Generation  |  Worker Delegation  |  Retry &amp;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023359"/>
            <a:ext cx="8412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execution_brain.py  —  currently 1-task graph; dynamic decomposition = next milestone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3758183"/>
            <a:ext cx="1828800" cy="274320"/>
          </a:xfrm>
          <a:prstGeom prst="rect">
            <a:avLst/>
          </a:prstGeom>
          <a:solidFill>
            <a:srgbClr val="1C1402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3794759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Calibri"/>
              </a:rPr>
              <a:t>PARTIAL 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151375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334255"/>
            <a:ext cx="11640312" cy="512064"/>
          </a:xfrm>
          <a:prstGeom prst="rect">
            <a:avLst/>
          </a:prstGeom>
          <a:solidFill>
            <a:srgbClr val="041E10"/>
          </a:solidFill>
          <a:ln w="1143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379975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WORKER MANAGER  +  MODEL PROVIDERS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608575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Gemini (Google)  |  Llama 3.3 / Groq  |  OpenRouter  |  Ollama (local/offline)  — via LiteLLM with auto-fallback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718303"/>
            <a:ext cx="8412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worker_manager.py · config.json · LiteLLM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4453127"/>
            <a:ext cx="1828800" cy="274320"/>
          </a:xfrm>
          <a:prstGeom prst="rect">
            <a:avLst/>
          </a:prstGeom>
          <a:solidFill>
            <a:srgbClr val="041E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04120" y="4489703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846319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029199"/>
            <a:ext cx="11640312" cy="512064"/>
          </a:xfrm>
          <a:prstGeom prst="rect">
            <a:avLst/>
          </a:prstGeom>
          <a:solidFill>
            <a:srgbClr val="1C1402"/>
          </a:solidFill>
          <a:ln w="1143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07491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TOOLS / SKILLS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5303519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Terminal (bash)  |  Filesystem  |  Process Manager  |  Browser (partial)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13247"/>
            <a:ext cx="8412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skills/computer/terminal.py · filesystem.py · process_manager.py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0" y="5148071"/>
            <a:ext cx="1828800" cy="274320"/>
          </a:xfrm>
          <a:prstGeom prst="rect">
            <a:avLst/>
          </a:prstGeom>
          <a:solidFill>
            <a:srgbClr val="1C1402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5184647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Calibri"/>
              </a:rPr>
              <a:t>PARTIAL 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5541263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724143"/>
            <a:ext cx="11640312" cy="512064"/>
          </a:xfrm>
          <a:prstGeom prst="rect">
            <a:avLst/>
          </a:prstGeom>
          <a:solidFill>
            <a:srgbClr val="041E10"/>
          </a:solidFill>
          <a:ln w="1143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76986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REVIEW ENGINE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5998463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Exit Code Check  |  Artifact Existence  |  Heuristic Validation  |  LLM Semantic Review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108191"/>
            <a:ext cx="8412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review_engine.py — 4-stage validation before delivery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0" y="5843015"/>
            <a:ext cx="1828800" cy="274320"/>
          </a:xfrm>
          <a:prstGeom prst="rect">
            <a:avLst/>
          </a:prstGeom>
          <a:solidFill>
            <a:srgbClr val="041E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04120" y="5879591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6236207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6419087"/>
            <a:ext cx="11640312" cy="512064"/>
          </a:xfrm>
          <a:prstGeom prst="rect">
            <a:avLst/>
          </a:prstGeom>
          <a:solidFill>
            <a:srgbClr val="1C1402"/>
          </a:solidFill>
          <a:ln w="1143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464807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MEMORY  +  SSE  +  TTS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693407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Session State (in-memory)  |  Mission History (JSON)  |  SSE event stream  |  Kokoro-ONNX local TTS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6803135"/>
            <a:ext cx="8412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memory_manager.py · main.py /api/events · voice_manager.py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58400" y="6537959"/>
            <a:ext cx="1828800" cy="274320"/>
          </a:xfrm>
          <a:prstGeom prst="rect">
            <a:avLst/>
          </a:prstGeom>
          <a:solidFill>
            <a:srgbClr val="1C1402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04120" y="657453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Calibri"/>
              </a:rPr>
              <a:t>PARTIAL 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"/>
            <a:ext cx="11640312" cy="256032"/>
          </a:xfrm>
          <a:prstGeom prst="rect">
            <a:avLst/>
          </a:prstGeom>
          <a:solidFill>
            <a:srgbClr val="14083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End-to-End Data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241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8BFA"/>
                </a:solidFill>
                <a:latin typeface="Calibri"/>
              </a:rPr>
              <a:t>From user input → mission lock → execution → review → delivery.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4031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3566160" cy="292608"/>
          </a:xfrm>
          <a:prstGeom prst="rect">
            <a:avLst/>
          </a:prstGeom>
          <a:solidFill>
            <a:srgbClr val="140838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9344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  <a:latin typeface="Calibri"/>
              </a:rPr>
              <a:t>INPUT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554480"/>
            <a:ext cx="4572000" cy="292608"/>
          </a:xfrm>
          <a:prstGeom prst="rect">
            <a:avLst/>
          </a:prstGeom>
          <a:solidFill>
            <a:srgbClr val="140838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60934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PROCESSING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554480"/>
            <a:ext cx="3108960" cy="292608"/>
          </a:xfrm>
          <a:prstGeom prst="rect">
            <a:avLst/>
          </a:prstGeom>
          <a:solidFill>
            <a:srgbClr val="140838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1609344"/>
            <a:ext cx="2926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OUTPUT &amp; INFRA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38528"/>
            <a:ext cx="3566160" cy="804672"/>
          </a:xfrm>
          <a:prstGeom prst="rect">
            <a:avLst/>
          </a:prstGeom>
          <a:solidFill>
            <a:srgbClr val="181835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975104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BROWSER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212848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React + Vite + Tailwind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414016"/>
            <a:ext cx="33467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frontend/src/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743200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71216"/>
            <a:ext cx="3566160" cy="804672"/>
          </a:xfrm>
          <a:prstGeom prst="rect">
            <a:avLst/>
          </a:prstGeom>
          <a:solidFill>
            <a:srgbClr val="181835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907792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VOICE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145536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Web Speech API (STT)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346704"/>
            <a:ext cx="33467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Browser native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675888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03904"/>
            <a:ext cx="3566160" cy="804672"/>
          </a:xfrm>
          <a:prstGeom prst="rect">
            <a:avLst/>
          </a:prstGeom>
          <a:solidFill>
            <a:srgbClr val="181835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84048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POST /api/chat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078224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HTTP REST endpoint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279392"/>
            <a:ext cx="33467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main.py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608576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36592"/>
            <a:ext cx="3566160" cy="804672"/>
          </a:xfrm>
          <a:prstGeom prst="rect">
            <a:avLst/>
          </a:prstGeom>
          <a:solidFill>
            <a:srgbClr val="181835"/>
          </a:solidFill>
          <a:ln w="889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477316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SESSION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5010912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UUID → SessionState 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5212079"/>
            <a:ext cx="33467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main.py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9080" y="1938528"/>
            <a:ext cx="4572000" cy="804672"/>
          </a:xfrm>
          <a:prstGeom prst="rect">
            <a:avLst/>
          </a:prstGeom>
          <a:solidFill>
            <a:srgbClr val="181835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197510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PARTNER BRAIN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2212848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Intent classify → extract mission → evaluate understanding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2414016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partner_brain.py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743200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2871216"/>
            <a:ext cx="4572000" cy="804672"/>
          </a:xfrm>
          <a:prstGeom prst="rect">
            <a:avLst/>
          </a:prstGeom>
          <a:solidFill>
            <a:srgbClr val="5B21B6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290779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🔒 MISSION LOCK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3145536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AUTHORIZED_EXECUTION state · mutual_understanding_reached=True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3346704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understanding_evaluator.py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675888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69080" y="3803904"/>
            <a:ext cx="4572000" cy="804672"/>
          </a:xfrm>
          <a:prstGeom prst="rect">
            <a:avLst/>
          </a:prstGeom>
          <a:solidFill>
            <a:srgbClr val="181835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384048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EXECUTIVE BRAIN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4078224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TaskGraph (1 task) → WorkerManager → LiteLLM routing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279392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execution_brain.py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608576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69080" y="4736592"/>
            <a:ext cx="4572000" cy="804672"/>
          </a:xfrm>
          <a:prstGeom prst="rect">
            <a:avLst/>
          </a:prstGeom>
          <a:solidFill>
            <a:srgbClr val="181835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477316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TOOLS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501091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TerminalSkill  |  FilesystemSkill  |  ProcessManager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5212079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skills/computer/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1938528"/>
            <a:ext cx="3108960" cy="804672"/>
          </a:xfrm>
          <a:prstGeom prst="rect">
            <a:avLst/>
          </a:prstGeom>
          <a:solidFill>
            <a:srgbClr val="181835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79408" y="1975104"/>
            <a:ext cx="28895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REVIEW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79408" y="2212848"/>
            <a:ext cx="2889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Exit code · Artifact · Heuristic · LLM semantic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79408" y="2414016"/>
            <a:ext cx="2889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review_engine.py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2743200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9680" y="2871216"/>
            <a:ext cx="3108960" cy="804672"/>
          </a:xfrm>
          <a:prstGeom prst="rect">
            <a:avLst/>
          </a:prstGeom>
          <a:solidFill>
            <a:srgbClr val="181835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79408" y="2907792"/>
            <a:ext cx="28895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MEMORY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79408" y="3145536"/>
            <a:ext cx="2889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Session (RAM) · Mission history (JSON)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79408" y="3346704"/>
            <a:ext cx="2889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memory_manager.py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20" y="3675888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3803904"/>
            <a:ext cx="3108960" cy="804672"/>
          </a:xfrm>
          <a:prstGeom prst="rect">
            <a:avLst/>
          </a:prstGeom>
          <a:solidFill>
            <a:srgbClr val="181835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79408" y="3840480"/>
            <a:ext cx="28895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SSE EVENTS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79408" y="4078224"/>
            <a:ext cx="2889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Real-time stream to UI
/api/events endpoint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79408" y="4279392"/>
            <a:ext cx="2889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FastAPI EventSource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32720" y="4608576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69680" y="4736592"/>
            <a:ext cx="3108960" cy="804672"/>
          </a:xfrm>
          <a:prstGeom prst="rect">
            <a:avLst/>
          </a:prstGeom>
          <a:solidFill>
            <a:srgbClr val="181835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79408" y="4773168"/>
            <a:ext cx="28895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TTS OUTPUT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79408" y="5010912"/>
            <a:ext cx="2889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Kokoro-ONNX → Base64 audio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79408" y="5212079"/>
            <a:ext cx="2889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voice_manager.py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58768" y="221284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41080" y="221284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58768" y="314553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41080" y="314553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58768" y="407822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41080" y="407822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58768" y="501091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41080" y="501091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"/>
            <a:ext cx="11640312" cy="256032"/>
          </a:xfrm>
          <a:prstGeom prst="rect">
            <a:avLst/>
          </a:prstGeom>
          <a:solidFill>
            <a:srgbClr val="14083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HADES  —  MISSION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HADES Doesn't Start With a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241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8BFA"/>
                </a:solidFill>
                <a:latin typeface="Calibri"/>
              </a:rPr>
              <a:t>It starts with understanding. Execution is gated by mutual alignment.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4031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4389120" cy="384048"/>
          </a:xfrm>
          <a:prstGeom prst="rect">
            <a:avLst/>
          </a:prstGeom>
          <a:solidFill>
            <a:srgbClr val="121228"/>
          </a:solidFill>
          <a:ln w="889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627632"/>
            <a:ext cx="4169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① USER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38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21408"/>
            <a:ext cx="4389120" cy="384048"/>
          </a:xfrm>
          <a:prstGeom prst="rect">
            <a:avLst/>
          </a:prstGeom>
          <a:solidFill>
            <a:srgbClr val="041E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194560"/>
            <a:ext cx="4169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② CONVERSATION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50545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88336"/>
            <a:ext cx="4389120" cy="384048"/>
          </a:xfrm>
          <a:prstGeom prst="rect">
            <a:avLst/>
          </a:prstGeom>
          <a:solidFill>
            <a:srgbClr val="041E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761488"/>
            <a:ext cx="4169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③ CLARIFICATION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07238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255264"/>
            <a:ext cx="4389120" cy="384048"/>
          </a:xfrm>
          <a:prstGeom prst="rect">
            <a:avLst/>
          </a:prstGeom>
          <a:solidFill>
            <a:srgbClr val="041E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328416"/>
            <a:ext cx="4169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④ PUSHBACK / ALIGN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63931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22191"/>
            <a:ext cx="4389120" cy="384048"/>
          </a:xfrm>
          <a:prstGeom prst="rect">
            <a:avLst/>
          </a:prstGeom>
          <a:solidFill>
            <a:srgbClr val="041E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895344"/>
            <a:ext cx="4169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⑤ MUTUAL UNDERSTANDING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206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389120"/>
            <a:ext cx="4389120" cy="384048"/>
          </a:xfrm>
          <a:prstGeom prst="rect">
            <a:avLst/>
          </a:prstGeom>
          <a:solidFill>
            <a:srgbClr val="5B21B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462272"/>
            <a:ext cx="4169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🔒  MISSION 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7731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956048"/>
            <a:ext cx="4389120" cy="384048"/>
          </a:xfrm>
          <a:prstGeom prst="rect">
            <a:avLst/>
          </a:prstGeom>
          <a:solidFill>
            <a:srgbClr val="1C1402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5029200"/>
            <a:ext cx="4169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⑦ 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34009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522976"/>
            <a:ext cx="4389120" cy="384048"/>
          </a:xfrm>
          <a:prstGeom prst="rect">
            <a:avLst/>
          </a:prstGeom>
          <a:solidFill>
            <a:srgbClr val="041E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5596128"/>
            <a:ext cx="4169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⑧ EXECUTION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90702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089904"/>
            <a:ext cx="4389120" cy="384048"/>
          </a:xfrm>
          <a:prstGeom prst="rect">
            <a:avLst/>
          </a:prstGeom>
          <a:solidFill>
            <a:srgbClr val="041E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6163056"/>
            <a:ext cx="4169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⑨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6656832"/>
            <a:ext cx="4389120" cy="384048"/>
          </a:xfrm>
          <a:prstGeom prst="rect">
            <a:avLst/>
          </a:prstGeom>
          <a:solidFill>
            <a:srgbClr val="041E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6729984"/>
            <a:ext cx="4169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⑩ DELIVERY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1554480"/>
            <a:ext cx="6858000" cy="1481328"/>
          </a:xfrm>
          <a:prstGeom prst="rect">
            <a:avLst/>
          </a:prstGeom>
          <a:solidFill>
            <a:srgbClr val="181835"/>
          </a:solidFill>
          <a:ln w="762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1627632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BEFORE MISSION 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192024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Hades can reason, ask clarifying questions, push back on vague requests, and propose a plan — but CANNOT invoke any tools or execute any commands on the system. The Partner Brain is in full control.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3200400"/>
            <a:ext cx="6858000" cy="1143000"/>
          </a:xfrm>
          <a:prstGeom prst="rect">
            <a:avLst/>
          </a:prstGeom>
          <a:solidFill>
            <a:srgbClr val="5B21B6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60" y="331012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🔒  MISSION LOCK — THE AUTHORIZATION 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639311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understanding_evaluator.py checks 4 conditions:
  ✓  objective is populated
  ✓  desired_outcome is populated
  ✓  success_criteria is populated
  ✓  mutual_understanding_reached == True
If ALL pass → MissionStatus → AUTHORIZED_EXECUTION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4507992"/>
            <a:ext cx="6858000" cy="1481328"/>
          </a:xfrm>
          <a:prstGeom prst="rect">
            <a:avLst/>
          </a:prstGeom>
          <a:solidFill>
            <a:srgbClr val="181835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6360" y="4581144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AFTER MISSION LOCK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60" y="4873752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Executive Brain takes full control. It generates a TaskGraph, delegates to Workers, invokes Tools on the Linux system, runs the Review Engine, and delivers the result — all without the user needing to manage anything. The user retains authority over GOALS, not over process.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"/>
            <a:ext cx="11640312" cy="256032"/>
          </a:xfrm>
          <a:prstGeom prst="rect">
            <a:avLst/>
          </a:prstGeom>
          <a:solidFill>
            <a:srgbClr val="14083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HADES  —  CONVERSATION &amp; 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HADES Thinks in Missions, Not Prompts.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241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8BFA"/>
                </a:solidFill>
                <a:latin typeface="Calibri"/>
              </a:rPr>
              <a:t>Every piece of work is a persistent, structured object — not a disposable input.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4031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577840" cy="292608"/>
          </a:xfrm>
          <a:prstGeom prst="rect">
            <a:avLst/>
          </a:prstGeom>
          <a:solidFill>
            <a:srgbClr val="1C0505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9344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TRADITIONAL CHAT — DISPOSABLE PROMPTS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38528"/>
            <a:ext cx="5577840" cy="347472"/>
          </a:xfrm>
          <a:prstGeom prst="rect">
            <a:avLst/>
          </a:prstGeom>
          <a:solidFill>
            <a:srgbClr val="1C0505"/>
          </a:solidFill>
          <a:ln w="6350">
            <a:solidFill>
              <a:srgbClr val="45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  Prompt → Response → Context Lost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59152"/>
            <a:ext cx="5577840" cy="347472"/>
          </a:xfrm>
          <a:prstGeom prst="rect">
            <a:avLst/>
          </a:prstGeom>
          <a:solidFill>
            <a:srgbClr val="1C0505"/>
          </a:solidFill>
          <a:ln w="6350">
            <a:solidFill>
              <a:srgbClr val="45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32304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  New session = Start from scratch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79776"/>
            <a:ext cx="5577840" cy="347472"/>
          </a:xfrm>
          <a:prstGeom prst="rect">
            <a:avLst/>
          </a:prstGeom>
          <a:solidFill>
            <a:srgbClr val="1C0505"/>
          </a:solidFill>
          <a:ln w="6350">
            <a:solidFill>
              <a:srgbClr val="45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852928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  No persistent goal tracking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5577840" cy="347472"/>
          </a:xfrm>
          <a:prstGeom prst="rect">
            <a:avLst/>
          </a:prstGeom>
          <a:solidFill>
            <a:srgbClr val="1C0505"/>
          </a:solidFill>
          <a:ln w="6350">
            <a:solidFill>
              <a:srgbClr val="45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73552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  No success criteria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21024"/>
            <a:ext cx="5577840" cy="347472"/>
          </a:xfrm>
          <a:prstGeom prst="rect">
            <a:avLst/>
          </a:prstGeom>
          <a:solidFill>
            <a:srgbClr val="1C0505"/>
          </a:solidFill>
          <a:ln w="6350">
            <a:solidFill>
              <a:srgbClr val="45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694176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  No outcome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912" y="1554480"/>
            <a:ext cx="5943600" cy="292608"/>
          </a:xfrm>
          <a:prstGeom prst="rect">
            <a:avLst/>
          </a:prstGeom>
          <a:solidFill>
            <a:srgbClr val="140838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609344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HADES MISSION OBJECT  —  mission.py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1938528"/>
            <a:ext cx="5943600" cy="347472"/>
          </a:xfrm>
          <a:prstGeom prst="rect">
            <a:avLst/>
          </a:prstGeom>
          <a:solidFill>
            <a:srgbClr val="181835"/>
          </a:solidFill>
          <a:ln w="635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2011680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  <a:latin typeface="Calibri"/>
              </a:rPr>
              <a:t>🎯 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2011680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"Build project scaffold in /workspace"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2340864"/>
            <a:ext cx="5943600" cy="347472"/>
          </a:xfrm>
          <a:prstGeom prst="rect">
            <a:avLst/>
          </a:prstGeom>
          <a:solidFill>
            <a:srgbClr val="181835"/>
          </a:solidFill>
          <a:ln w="635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241401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  <a:latin typeface="Calibri"/>
              </a:rPr>
              <a:t>📋  desired_outcome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414016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"Working FastAPI app with tests"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3912" y="2743200"/>
            <a:ext cx="5943600" cy="347472"/>
          </a:xfrm>
          <a:prstGeom prst="rect">
            <a:avLst/>
          </a:prstGeom>
          <a:solidFill>
            <a:srgbClr val="181835"/>
          </a:solidFill>
          <a:ln w="635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281635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  <a:latin typeface="Calibri"/>
              </a:rPr>
              <a:t>⚠️   constraints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2816352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["no external deps", "keep &lt; 200ms"]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3145536"/>
            <a:ext cx="5943600" cy="347472"/>
          </a:xfrm>
          <a:prstGeom prst="rect">
            <a:avLst/>
          </a:prstGeom>
          <a:solidFill>
            <a:srgbClr val="181835"/>
          </a:solidFill>
          <a:ln w="635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3218688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  <a:latin typeface="Calibri"/>
              </a:rPr>
              <a:t>✅  success_criteria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5712" y="321868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"app starts, all tests pass"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53912" y="3547872"/>
            <a:ext cx="5943600" cy="347472"/>
          </a:xfrm>
          <a:prstGeom prst="rect">
            <a:avLst/>
          </a:prstGeom>
          <a:solidFill>
            <a:srgbClr val="181835"/>
          </a:solidFill>
          <a:ln w="635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3621024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  <a:latin typeface="Calibri"/>
              </a:rPr>
              <a:t>📊 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621024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BACKGROUND_WORK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53912" y="3950208"/>
            <a:ext cx="5943600" cy="347472"/>
          </a:xfrm>
          <a:prstGeom prst="rect">
            <a:avLst/>
          </a:prstGeom>
          <a:solidFill>
            <a:srgbClr val="181835"/>
          </a:solidFill>
          <a:ln w="635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5352" y="4023360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  <a:latin typeface="Calibri"/>
              </a:rPr>
              <a:t>🔒  mutual_understanding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5712" y="4023360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True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53912" y="4352544"/>
            <a:ext cx="5943600" cy="347472"/>
          </a:xfrm>
          <a:prstGeom prst="rect">
            <a:avLst/>
          </a:prstGeom>
          <a:solidFill>
            <a:srgbClr val="181835"/>
          </a:solidFill>
          <a:ln w="635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5352" y="442569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  <a:latin typeface="Calibri"/>
              </a:rPr>
              <a:t>💬  conversation_history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4425696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[12 messages]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53912" y="4754880"/>
            <a:ext cx="5943600" cy="347472"/>
          </a:xfrm>
          <a:prstGeom prst="rect">
            <a:avLst/>
          </a:prstGeom>
          <a:solidFill>
            <a:srgbClr val="181835"/>
          </a:solidFill>
          <a:ln w="635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5352" y="482803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  <a:latin typeface="Calibri"/>
              </a:rPr>
              <a:t>💾  mission_id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25712" y="4828032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"m_3f8a9b2c"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6053328"/>
            <a:ext cx="1164031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6144768"/>
            <a:ext cx="11640312" cy="502920"/>
          </a:xfrm>
          <a:prstGeom prst="rect">
            <a:avLst/>
          </a:prstGeom>
          <a:solidFill>
            <a:srgbClr val="121228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227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MISSION STATE MACHINE: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62270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CONVERSATION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62270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62270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AUTHORIZED_EXECUTION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62270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62270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BACKGROUND_WORK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62270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62270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COMPLETED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62270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alibri"/>
              </a:rPr>
              <a:t>  /  NEEDS_USER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"/>
            <a:ext cx="11640312" cy="256032"/>
          </a:xfrm>
          <a:prstGeom prst="rect">
            <a:avLst/>
          </a:prstGeom>
          <a:solidFill>
            <a:srgbClr val="14083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HADES  —  REVIEW ENGINE &amp;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Doesn't Get to Declare Itself Successful.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241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8BFA"/>
                </a:solidFill>
                <a:latin typeface="Calibri"/>
              </a:rPr>
              <a:t>GENERATION ≠ COMPLETION  —  4-stage validation before every delivery.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4031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303520" cy="530352"/>
          </a:xfrm>
          <a:prstGeom prst="rect">
            <a:avLst/>
          </a:prstGeom>
          <a:solidFill>
            <a:srgbClr val="121228"/>
          </a:solidFill>
          <a:ln w="101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609344"/>
            <a:ext cx="5084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WORKER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47088"/>
            <a:ext cx="5084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LLM-generated command /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084831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67712"/>
            <a:ext cx="5303520" cy="530352"/>
          </a:xfrm>
          <a:prstGeom prst="rect">
            <a:avLst/>
          </a:prstGeom>
          <a:solidFill>
            <a:srgbClr val="041E10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322576"/>
            <a:ext cx="5084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STAGE 1: EXIT CODE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560320"/>
            <a:ext cx="5084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exit_code == 0 ?  (bash return value)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79806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80944"/>
            <a:ext cx="5303520" cy="530352"/>
          </a:xfrm>
          <a:prstGeom prst="rect">
            <a:avLst/>
          </a:prstGeom>
          <a:solidFill>
            <a:srgbClr val="041E10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035808"/>
            <a:ext cx="5084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STAGE 2: ARTIFACT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273551"/>
            <a:ext cx="5084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Does output.txt exist on disk?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51129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94176"/>
            <a:ext cx="5303520" cy="530352"/>
          </a:xfrm>
          <a:prstGeom prst="rect">
            <a:avLst/>
          </a:prstGeom>
          <a:solidFill>
            <a:srgbClr val="041E10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749039"/>
            <a:ext cx="5084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STAGE 3: HEURISTIC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986784"/>
            <a:ext cx="5084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Non-empty, sane content validation?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224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07408"/>
            <a:ext cx="5303520" cy="530352"/>
          </a:xfrm>
          <a:prstGeom prst="rect">
            <a:avLst/>
          </a:prstGeom>
          <a:solidFill>
            <a:srgbClr val="140838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462272"/>
            <a:ext cx="5084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STAGE 4: SEMANTIC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700016"/>
            <a:ext cx="5084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LLM checks output vs success_criteria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120640"/>
            <a:ext cx="2423160" cy="475488"/>
          </a:xfrm>
          <a:prstGeom prst="rect">
            <a:avLst/>
          </a:prstGeom>
          <a:solidFill>
            <a:srgbClr val="041E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23036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✓  PASS → DELIVER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5120640"/>
            <a:ext cx="2423160" cy="475488"/>
          </a:xfrm>
          <a:prstGeom prst="rect">
            <a:avLst/>
          </a:prstGeom>
          <a:solidFill>
            <a:srgbClr val="1C140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39" y="523036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🔄  RETRY → RE-PROMPT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80" y="1554480"/>
            <a:ext cx="5989320" cy="292608"/>
          </a:xfrm>
          <a:prstGeom prst="rect">
            <a:avLst/>
          </a:prstGeom>
          <a:solidFill>
            <a:srgbClr val="140838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1609344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MEMORY SYSTEM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1938528"/>
            <a:ext cx="5989320" cy="1353312"/>
          </a:xfrm>
          <a:prstGeom prst="rect">
            <a:avLst/>
          </a:prstGeom>
          <a:solidFill>
            <a:srgbClr val="181835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7608" y="1993392"/>
            <a:ext cx="5769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SESSION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7608" y="2286000"/>
            <a:ext cx="57698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Stored in Python dict keyed by UUID
Contains full conversation history
MissionUnderstanding fields
Active mission state
Lost on server restart (in-memory)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3401568"/>
            <a:ext cx="5989320" cy="1353312"/>
          </a:xfrm>
          <a:prstGeom prst="rect">
            <a:avLst/>
          </a:prstGeom>
          <a:solidFill>
            <a:srgbClr val="181835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07608" y="3456432"/>
            <a:ext cx="5769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MISSION HISTORY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7608" y="3749040"/>
            <a:ext cx="57698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Appended to memory.json on completion
Contains: objective, outcome, artifacts
Injected into PartnerBrain system prompt
Enables cross-mission awareness
RAG/vector retrieval = future milestone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97880" y="4864608"/>
            <a:ext cx="5989320" cy="1353312"/>
          </a:xfrm>
          <a:prstGeom prst="rect">
            <a:avLst/>
          </a:prstGeom>
          <a:solidFill>
            <a:srgbClr val="181835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07608" y="4919472"/>
            <a:ext cx="5769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LOCAL TTS 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7608" y="5212080"/>
            <a:ext cx="57698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Kokoro-ONNX — local neural synthesis
Audio generated server-side on Linux
Encoded as Base64 in JSON response
HTML5 Audio plays in browser
No cloud TTS dependency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"/>
            <a:ext cx="11640312" cy="256032"/>
          </a:xfrm>
          <a:prstGeom prst="rect">
            <a:avLst/>
          </a:prstGeom>
          <a:solidFill>
            <a:srgbClr val="14083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HADES Does That No One Else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241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8BFA"/>
                </a:solidFill>
                <a:latin typeface="Calibri"/>
              </a:rPr>
              <a:t>A verified, 13-step end-to-end execution trace — from human speech to file on disk.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4031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11640312" cy="438912"/>
          </a:xfrm>
          <a:prstGeom prst="rect">
            <a:avLst/>
          </a:prstGeom>
          <a:solidFill>
            <a:srgbClr val="08081E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8BFA"/>
                </a:solidFill>
                <a:latin typeface="Calibri"/>
              </a:rPr>
              <a:t>&gt;  "List all files in the current directory and save them to output.txt"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21408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121408"/>
            <a:ext cx="347472" cy="40233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212848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94560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31136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94A3B8"/>
                </a:solidFill>
                <a:latin typeface="Calibri"/>
              </a:rP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185415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Types or speaks the command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60320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560320"/>
            <a:ext cx="347472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651760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4"/>
                </a:solidFill>
                <a:latin typeface="Calibri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633472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70048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C3AED"/>
                </a:solidFill>
                <a:latin typeface="Calibri"/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24327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HadesService.sendMessage() → POST /api/chat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99232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999232"/>
            <a:ext cx="347472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090672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4"/>
                </a:solidFill>
                <a:latin typeface="Calibri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072384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108960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C3AED"/>
                </a:solidFill>
                <a:latin typeface="Calibri"/>
              </a:rPr>
              <a:t>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063239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main.py receives → looks up SessionState by UUID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38144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438144"/>
            <a:ext cx="347472" cy="40233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529584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4"/>
                </a:solidFill>
                <a:latin typeface="Calibri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511296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547872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A78BFA"/>
                </a:solidFill>
                <a:latin typeface="Calibri"/>
              </a:rPr>
              <a:t>PARTNER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3502151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IntentClassifier classifies as SMALL_TASK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877056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877056"/>
            <a:ext cx="347472" cy="40233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968496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4"/>
                </a:solidFill>
                <a:latin typeface="Calibri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950208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986784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A78BFA"/>
                </a:solidFill>
                <a:latin typeface="Calibri"/>
              </a:rPr>
              <a:t>PARTNER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3941064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MissionExtractor populates all MissionUnderstanding fields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315968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315968"/>
            <a:ext cx="34747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4407408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4"/>
                </a:solidFill>
                <a:latin typeface="Calibri"/>
              </a:rPr>
              <a:t>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89120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425696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LOCK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379976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UnderstandingEvaluator → MissionStatus.AUTHORIZED_EXECUTION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754880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754880"/>
            <a:ext cx="347472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846320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4"/>
                </a:solidFill>
                <a:latin typeface="Calibri"/>
              </a:rPr>
              <a:t>07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4828032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864608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C3AED"/>
                </a:solidFill>
                <a:latin typeface="Calibri"/>
              </a:rPr>
              <a:t>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37360" y="4818888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asyncio.create_task(execution_brain) — HTTP returns immediately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4768" y="2121408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44768" y="2121408"/>
            <a:ext cx="347472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44768" y="2212848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4"/>
                </a:solidFill>
                <a:latin typeface="Calibri"/>
              </a:rPr>
              <a:t>08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28816" y="2194560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6248" y="2231136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59E0B"/>
                </a:solidFill>
                <a:latin typeface="Calibri"/>
              </a:rPr>
              <a:t>EXEC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07808" y="2185415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ExecutionBrain._generate_plan() → 1-task TaskGraph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44768" y="2560320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44768" y="2560320"/>
            <a:ext cx="347472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4768" y="2651760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4"/>
                </a:solidFill>
                <a:latin typeface="Calibri"/>
              </a:rPr>
              <a:t>09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8816" y="2633472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56248" y="2670048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0B981"/>
                </a:solidFill>
                <a:latin typeface="Calibri"/>
              </a:rPr>
              <a:t>WORKER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07808" y="2624327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WorkerManager → Gemini → LLM generates: ls -la &gt; output.txt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44768" y="2999232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44768" y="2999232"/>
            <a:ext cx="347472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44768" y="3090672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4"/>
                </a:solidFill>
                <a:latin typeface="Calibri"/>
              </a:rPr>
              <a:t>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28816" y="3072384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56248" y="3108960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0B981"/>
                </a:solidFill>
                <a:latin typeface="Calibri"/>
              </a:rPr>
              <a:t>TOOL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07808" y="3063239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TerminalSkill → asyncio.create_subprocess_shell → runs on Linux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44768" y="3438144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44768" y="3438144"/>
            <a:ext cx="347472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44768" y="3529584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4"/>
                </a:solidFill>
                <a:latin typeface="Calibri"/>
              </a:rPr>
              <a:t>11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3511296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56248" y="3547872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0B981"/>
                </a:solidFill>
                <a:latin typeface="Calibri"/>
              </a:rPr>
              <a:t>REVIEW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07808" y="3502151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ReviewEngine: exit_code==0 ✓  · output.txt exists ✓ → PASS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44768" y="3877056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44768" y="3877056"/>
            <a:ext cx="347472" cy="40233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44768" y="3968496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28816" y="3950208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56248" y="3986784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94A3B8"/>
                </a:solidFill>
                <a:latin typeface="Calibri"/>
              </a:rPr>
              <a:t>MEMORY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07808" y="3941064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memory_manager.add_mission_to_history() → memory.json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44768" y="4315968"/>
            <a:ext cx="5742432" cy="402336"/>
          </a:xfrm>
          <a:prstGeom prst="rect">
            <a:avLst/>
          </a:prstGeom>
          <a:solidFill>
            <a:srgbClr val="181835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44768" y="4315968"/>
            <a:ext cx="347472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44768" y="4407408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4"/>
                </a:solidFill>
                <a:latin typeface="Calibri"/>
              </a:rPr>
              <a:t>13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28816" y="4389120"/>
            <a:ext cx="1005840" cy="256032"/>
          </a:xfrm>
          <a:prstGeom prst="rect">
            <a:avLst/>
          </a:prstGeom>
          <a:solidFill>
            <a:srgbClr val="12122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56248" y="4425696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0B981"/>
                </a:solidFill>
                <a:latin typeface="Calibri"/>
              </a:rPr>
              <a:t>SSE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07808" y="4379976"/>
            <a:ext cx="4169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EventSource emits MISSION_COMPLETED → UI + Kokoro TTS speaks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6419088"/>
            <a:ext cx="1164031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0" y="6492240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Calibri"/>
              </a:rPr>
              <a:t>CONVERSATION  →  MISSION LOCK  →  ASYNC EXECUTION  →  VERIFICATION  →  DELIVERY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"/>
            <a:ext cx="11640312" cy="256032"/>
          </a:xfrm>
          <a:prstGeom prst="rect">
            <a:avLst/>
          </a:prstGeom>
          <a:solidFill>
            <a:srgbClr val="140838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HADES Actually Contributes.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241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8BFA"/>
                </a:solidFill>
                <a:latin typeface="Calibri"/>
              </a:rPr>
              <a:t>7 architectural novelties — each grounded in the implemented codebase.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4031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72768"/>
            <a:ext cx="2971800" cy="1463040"/>
          </a:xfrm>
          <a:prstGeom prst="rect">
            <a:avLst/>
          </a:prstGeom>
          <a:solidFill>
            <a:srgbClr val="181835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01 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8366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MUTUAL UNDERSTANDING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2788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Execution gated by deterministic state check: all mission fields + mutual_understanding_reached=True. No other system requires explicit alignment verification before tool invocation.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52928"/>
            <a:ext cx="2788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understanding_evaluator.py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572768"/>
            <a:ext cx="2971800" cy="1463040"/>
          </a:xfrm>
          <a:prstGeom prst="rect">
            <a:avLst/>
          </a:prstGeom>
          <a:solidFill>
            <a:srgbClr val="181835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276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02 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8366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MISSION-CENTRIC COMPUTING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76272"/>
            <a:ext cx="2788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Prompts are disposable. Missions are persistent objects with objective, constraints, success criteria, and outcome. State persists across conversation → execution → review →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852928"/>
            <a:ext cx="2788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mission.py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572768"/>
            <a:ext cx="2971800" cy="1463040"/>
          </a:xfrm>
          <a:prstGeom prst="rect">
            <a:avLst/>
          </a:prstGeom>
          <a:solidFill>
            <a:srgbClr val="181835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6276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03 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88366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PARTNER / EXECUTIVE DUALITY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76272"/>
            <a:ext cx="2788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Partner Brain handles conversation, never touches tools. Executive Brain handles execution, never engages the user. Prevents the classic agent contamination failure mode.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52928"/>
            <a:ext cx="2788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partner_brain.py + execution_brain.py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1572768"/>
            <a:ext cx="2633472" cy="1463040"/>
          </a:xfrm>
          <a:prstGeom prst="rect">
            <a:avLst/>
          </a:prstGeom>
          <a:solidFill>
            <a:srgbClr val="181835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16276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04 ⚙️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883664"/>
            <a:ext cx="2450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INVISIBLE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176272"/>
            <a:ext cx="2450591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User says a goal. Hades selects the model, routes the prompt, runs the tool, validates the result — invisibly. Intelligence becomes infrastructure.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852928"/>
            <a:ext cx="24505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worker_manager.py + config.json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3950208" cy="1572768"/>
          </a:xfrm>
          <a:prstGeom prst="rect">
            <a:avLst/>
          </a:prstGeom>
          <a:solidFill>
            <a:srgbClr val="181835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05 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465576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VERIFICATION-FIRST EXECUTION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758184"/>
            <a:ext cx="376732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4-stage Review Engine: exit code → artifact check → heuristic → LLM semantic review. Worker output is not trusted. Mission criteria define success, not the AI.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544568"/>
            <a:ext cx="3767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review_engine.py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3154680"/>
            <a:ext cx="3950208" cy="1572768"/>
          </a:xfrm>
          <a:prstGeom prst="rect">
            <a:avLst/>
          </a:prstGeom>
          <a:solidFill>
            <a:srgbClr val="181835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7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06 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7" y="3465576"/>
            <a:ext cx="3767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MODEL-AGNOSTIC AI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7" y="3758184"/>
            <a:ext cx="376732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LiteLLM wraps Gemini, Groq, OpenRouter, Ollama behind one interface. Auto-fallback. New providers via config.json. No architectural coupling to any vendor.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7" y="4544568"/>
            <a:ext cx="3767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worker_manager.py + LiteLLM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57616" y="3154680"/>
            <a:ext cx="3739896" cy="1572768"/>
          </a:xfrm>
          <a:prstGeom prst="rect">
            <a:avLst/>
          </a:prstGeom>
          <a:solidFill>
            <a:srgbClr val="181835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49056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07 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6" y="3465576"/>
            <a:ext cx="3557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PERSISTENT RELATIONSHIP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3758184"/>
            <a:ext cx="355701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Mission history, user identity, conversation context persist across interactions. Hades builds continuity beyond session-scoped Q&amp;A. RAG/vector retrieval is the next memory milestone.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6" y="4544568"/>
            <a:ext cx="35570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memory_manager.py  (partial)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864608"/>
            <a:ext cx="1164031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0" y="495604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The novelty is not another smarter model.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5321808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78BFA"/>
                </a:solidFill>
                <a:latin typeface="Calibri"/>
              </a:rPr>
              <a:t>It is a system that organizes intelligence around human intent.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0292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Calibri"/>
              </a:rPr>
              <a:t>H A D E 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601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029968"/>
            <a:ext cx="12188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A78BFA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1036015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HADES is a Linux-native AI Operating System that converts human intent into verified system-level action through conversation-first mission planning, multi-model orchestration, and 4-stage output 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19" y="3767328"/>
            <a:ext cx="2834640" cy="1005840"/>
          </a:xfrm>
          <a:prstGeom prst="rect">
            <a:avLst/>
          </a:prstGeom>
          <a:solidFill>
            <a:srgbClr val="181835"/>
          </a:solidFill>
          <a:ln w="1143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38587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BUILT ON LINUX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4151376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bash · asyncio · Kokoro-ONNX
filesystem · subprocess · Ollama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9544" y="3767328"/>
            <a:ext cx="2834640" cy="1005840"/>
          </a:xfrm>
          <a:prstGeom prst="rect">
            <a:avLst/>
          </a:prstGeom>
          <a:solidFill>
            <a:srgbClr val="181835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0984" y="38587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MISSION 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984" y="4151376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Conversation gates execution.
No action without alignment.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3767328"/>
            <a:ext cx="2834640" cy="1005840"/>
          </a:xfrm>
          <a:prstGeom prst="rect">
            <a:avLst/>
          </a:prstGeom>
          <a:solidFill>
            <a:srgbClr val="181835"/>
          </a:solidFill>
          <a:ln w="1143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38587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MODEL AGNOSTIC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4151376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Gemini · Groq · OpenRouter
Ollama · LiteLLM fallback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9992" y="3767328"/>
            <a:ext cx="2834640" cy="1005840"/>
          </a:xfrm>
          <a:prstGeom prst="rect">
            <a:avLst/>
          </a:prstGeom>
          <a:solidFill>
            <a:srgbClr val="181835"/>
          </a:solidFill>
          <a:ln w="1143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38587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VERIFIED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4151376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4-stage Review Engine.
Generation ≠ Success.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983480"/>
            <a:ext cx="103601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509320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HUMAN SETS THE MISSION.  HADES ORCHESTRATES THE INTELLIGENCE.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96128"/>
            <a:ext cx="103601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5715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Today HADES proves the loop.  The next phase proves the 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172200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Project HADES  ·  AI Operating System Prototype  ·  Linux-Native  ·  2025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