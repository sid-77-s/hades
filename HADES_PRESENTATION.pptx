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0" y="201168"/>
            <a:ext cx="6309360" cy="292608"/>
          </a:xfrm>
          <a:prstGeom prst="rect">
            <a:avLst/>
          </a:prstGeom>
          <a:solidFill>
            <a:srgbClr val="1E1040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0" y="201168"/>
            <a:ext cx="6309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HACKATHON BUILD  ·  AI SYSTEMS ENGINEERING  · 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0">
                <a:solidFill>
                  <a:srgbClr val="FFFFFF"/>
                </a:solidFill>
                <a:latin typeface="Calibri"/>
              </a:rPr>
              <a:t>HADES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651760"/>
            <a:ext cx="941832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700">
                <a:solidFill>
                  <a:srgbClr val="94A3B8"/>
                </a:solidFill>
                <a:latin typeface="Calibri"/>
              </a:rPr>
              <a:t>FROM AI ASSISTANT  →  AI OPERATING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429000"/>
            <a:ext cx="1737360" cy="475488"/>
          </a:xfrm>
          <a:prstGeom prst="rect">
            <a:avLst/>
          </a:prstGeom>
          <a:solidFill>
            <a:srgbClr val="1414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493008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94A3B8"/>
                </a:solidFill>
                <a:latin typeface="Calibri"/>
              </a:rPr>
              <a:t>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474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7C3AED"/>
                </a:solidFill>
                <a:latin typeface="Calibri"/>
              </a:rPr>
              <a:t>→→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3429000"/>
            <a:ext cx="17373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493008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HADES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474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7C3AED"/>
                </a:solidFill>
                <a:latin typeface="Calibri"/>
              </a:rPr>
              <a:t>→→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429000"/>
            <a:ext cx="1737360" cy="475488"/>
          </a:xfrm>
          <a:prstGeom prst="rect">
            <a:avLst/>
          </a:prstGeom>
          <a:solidFill>
            <a:srgbClr val="1414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493008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A78BFA"/>
                </a:solidFill>
                <a:latin typeface="Calibri"/>
              </a:rPr>
              <a:t>MODELS + TOOLS +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74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7C3AED"/>
                </a:solidFill>
                <a:latin typeface="Calibri"/>
              </a:rPr>
              <a:t>→→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429000"/>
            <a:ext cx="1737360" cy="475488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3493008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10B981"/>
                </a:solidFill>
                <a:latin typeface="Calibri"/>
              </a:rPr>
              <a:t>REAL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160520"/>
            <a:ext cx="941832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300">
                <a:solidFill>
                  <a:srgbClr val="94A3B8"/>
                </a:solidFill>
                <a:latin typeface="Calibri"/>
              </a:rPr>
              <a:t>The user should manage the goal — not the intelligence required to achieve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THE AI PROBLEM IS NO LONGER CAPABILITY.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IT IS ORCHESTRATION.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TODAY'S REALITY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920240" cy="566928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65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E2E8F0"/>
                </a:solidFill>
                <a:latin typeface="Calibri"/>
              </a:rPr>
              <a:t>🔍 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280"/>
                </a:solidFill>
                <a:latin typeface="Calibri"/>
              </a:rPr>
              <a:t>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28800"/>
            <a:ext cx="1920240" cy="566928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865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E2E8F0"/>
                </a:solidFill>
                <a:latin typeface="Calibri"/>
              </a:rPr>
              <a:t>💻 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214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280"/>
                </a:solidFill>
                <a:latin typeface="Calibri"/>
              </a:rPr>
              <a:t>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1920240" cy="566928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E2E8F0"/>
                </a:solidFill>
                <a:latin typeface="Calibri"/>
              </a:rPr>
              <a:t>✍️   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214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280"/>
                </a:solidFill>
                <a:latin typeface="Calibri"/>
              </a:rPr>
              <a:t>Writing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1920240" cy="566928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E2E8F0"/>
                </a:solidFill>
                <a:latin typeface="Calibri"/>
              </a:rPr>
              <a:t>📝  NOTION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98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280"/>
                </a:solidFill>
                <a:latin typeface="Calibri"/>
              </a:rPr>
              <a:t>Notes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606040"/>
            <a:ext cx="1920240" cy="566928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E2E8F0"/>
                </a:solidFill>
                <a:latin typeface="Calibri"/>
              </a:rPr>
              <a:t>⚡  ZAPIER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898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280"/>
                </a:solidFill>
                <a:latin typeface="Calibri"/>
              </a:rPr>
              <a:t>Automation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606040"/>
            <a:ext cx="1920240" cy="566928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E2E8F0"/>
                </a:solidFill>
                <a:latin typeface="Calibri"/>
              </a:rPr>
              <a:t>📅  CALENDAR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98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280"/>
                </a:solidFill>
                <a:latin typeface="Calibri"/>
              </a:rPr>
              <a:t>Scheduling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3383280"/>
            <a:ext cx="1920240" cy="566928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34198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E2E8F0"/>
                </a:solidFill>
                <a:latin typeface="Calibri"/>
              </a:rPr>
              <a:t>📧  GMAIL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675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280"/>
                </a:solidFill>
                <a:latin typeface="Calibri"/>
              </a:rPr>
              <a:t>Email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383280"/>
            <a:ext cx="1920240" cy="566928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4198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E2E8F0"/>
                </a:solidFill>
                <a:latin typeface="Calibri"/>
              </a:rPr>
              <a:t>🔧  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675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6B7280"/>
                </a:solidFill>
                <a:latin typeface="Calibri"/>
              </a:rPr>
              <a:t>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606040"/>
            <a:ext cx="914400" cy="457200"/>
          </a:xfrm>
          <a:prstGeom prst="rect">
            <a:avLst/>
          </a:prstGeom>
          <a:solidFill>
            <a:srgbClr val="2E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EF4444"/>
                </a:solidFill>
                <a:latin typeface="Calibri"/>
              </a:rPr>
              <a:t>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6B7280"/>
                </a:solidFill>
                <a:latin typeface="Calibri"/>
              </a:rPr>
              <a:t>The Orchestration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371600"/>
            <a:ext cx="9144" cy="502920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1417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THE HIDDEN TAX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828800"/>
            <a:ext cx="5943600" cy="475488"/>
          </a:xfrm>
          <a:prstGeom prst="rect">
            <a:avLst/>
          </a:prstGeom>
          <a:solidFill>
            <a:srgbClr val="2E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192024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2E8F0"/>
                </a:solidFill>
                <a:latin typeface="Calibri"/>
              </a:rPr>
              <a:t>✗  Context switching between AI tools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2395728"/>
            <a:ext cx="5943600" cy="475488"/>
          </a:xfrm>
          <a:prstGeom prst="rect">
            <a:avLst/>
          </a:prstGeom>
          <a:solidFill>
            <a:srgbClr val="2E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487168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2E8F0"/>
                </a:solidFill>
                <a:latin typeface="Calibri"/>
              </a:rPr>
              <a:t>✗  Repeating yourself to every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2962656"/>
            <a:ext cx="5943600" cy="475488"/>
          </a:xfrm>
          <a:prstGeom prst="rect">
            <a:avLst/>
          </a:prstGeom>
          <a:solidFill>
            <a:srgbClr val="2E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3054096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2E8F0"/>
                </a:solidFill>
                <a:latin typeface="Calibri"/>
              </a:rPr>
              <a:t>✗  Manually selecting the right AI for each task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529584"/>
            <a:ext cx="5943600" cy="475488"/>
          </a:xfrm>
          <a:prstGeom prst="rect">
            <a:avLst/>
          </a:prstGeom>
          <a:solidFill>
            <a:srgbClr val="2E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621024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2E8F0"/>
                </a:solidFill>
                <a:latin typeface="Calibri"/>
              </a:rPr>
              <a:t>✗  Managing workflow sequencing yourself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4096512"/>
            <a:ext cx="5943600" cy="475488"/>
          </a:xfrm>
          <a:prstGeom prst="rect">
            <a:avLst/>
          </a:prstGeom>
          <a:solidFill>
            <a:srgbClr val="2E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418795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2E8F0"/>
                </a:solidFill>
                <a:latin typeface="Calibri"/>
              </a:rPr>
              <a:t>✗  Context lost between every session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4663440"/>
            <a:ext cx="5943600" cy="475488"/>
          </a:xfrm>
          <a:prstGeom prst="rect">
            <a:avLst/>
          </a:prstGeom>
          <a:solidFill>
            <a:srgbClr val="2E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4754879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2E8F0"/>
                </a:solidFill>
                <a:latin typeface="Calibri"/>
              </a:rPr>
              <a:t>✗  Decision fatigue from tool sprawl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577840"/>
            <a:ext cx="1143000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669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A78BFA"/>
                </a:solidFill>
                <a:latin typeface="Calibri"/>
              </a:rPr>
              <a:t>Today's AI gives humans MORE capabilities.  Hades removes the burden of COORDINATING them.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WHERE EXISTING AI SYSTEMS STOP.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CAPABILITY GAP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1417320"/>
            <a:ext cx="2743200" cy="438912"/>
          </a:xfrm>
          <a:prstGeom prst="rect">
            <a:avLst/>
          </a:prstGeom>
          <a:solidFill>
            <a:srgbClr val="1414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1463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TRADITIONAL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417320"/>
            <a:ext cx="2743200" cy="438912"/>
          </a:xfrm>
          <a:prstGeom prst="rect">
            <a:avLst/>
          </a:prstGeom>
          <a:solidFill>
            <a:srgbClr val="1414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463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AI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417320"/>
            <a:ext cx="32918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463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HADES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901952"/>
            <a:ext cx="1828800" cy="365759"/>
          </a:xfrm>
          <a:prstGeom prst="rect">
            <a:avLst/>
          </a:prstGeom>
          <a:solidFill>
            <a:srgbClr val="14142A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947672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Conversation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1901952"/>
            <a:ext cx="274320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938528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901952"/>
            <a:ext cx="2743200" cy="365759"/>
          </a:xfrm>
          <a:prstGeom prst="rect">
            <a:avLst/>
          </a:prstGeom>
          <a:solidFill>
            <a:srgbClr val="201503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938528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901952"/>
            <a:ext cx="329184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938528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2286000"/>
            <a:ext cx="1828800" cy="365759"/>
          </a:xfrm>
          <a:prstGeom prst="rect">
            <a:avLst/>
          </a:prstGeom>
          <a:solidFill>
            <a:srgbClr val="101022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2331720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Persistent Identity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2286000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2322576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2286000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2322576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2286000"/>
            <a:ext cx="329184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22576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670048"/>
            <a:ext cx="1828800" cy="365759"/>
          </a:xfrm>
          <a:prstGeom prst="rect">
            <a:avLst/>
          </a:prstGeom>
          <a:solidFill>
            <a:srgbClr val="14142A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" y="2715768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Long-Term Memory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2670048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2706624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670048"/>
            <a:ext cx="2743200" cy="365759"/>
          </a:xfrm>
          <a:prstGeom prst="rect">
            <a:avLst/>
          </a:prstGeom>
          <a:solidFill>
            <a:srgbClr val="201503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2706624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670048"/>
            <a:ext cx="3291840" cy="365759"/>
          </a:xfrm>
          <a:prstGeom prst="rect">
            <a:avLst/>
          </a:prstGeom>
          <a:solidFill>
            <a:srgbClr val="20150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2706624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3054096"/>
            <a:ext cx="1828800" cy="365759"/>
          </a:xfrm>
          <a:prstGeom prst="rect">
            <a:avLst/>
          </a:prstGeom>
          <a:solidFill>
            <a:srgbClr val="101022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" y="3099815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Goal Understanding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3054096"/>
            <a:ext cx="2743200" cy="365759"/>
          </a:xfrm>
          <a:prstGeom prst="rect">
            <a:avLst/>
          </a:prstGeom>
          <a:solidFill>
            <a:srgbClr val="201503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3090672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3054096"/>
            <a:ext cx="2743200" cy="365759"/>
          </a:xfrm>
          <a:prstGeom prst="rect">
            <a:avLst/>
          </a:prstGeom>
          <a:solidFill>
            <a:srgbClr val="201503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3090672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054096"/>
            <a:ext cx="329184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3090672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3438144"/>
            <a:ext cx="1828800" cy="365759"/>
          </a:xfrm>
          <a:prstGeom prst="rect">
            <a:avLst/>
          </a:prstGeom>
          <a:solidFill>
            <a:srgbClr val="14142A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" y="3483863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Human Alignment Gate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3438144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0" y="3474720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3438144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0" y="3474720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3438144"/>
            <a:ext cx="329184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3474720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822191"/>
            <a:ext cx="1828800" cy="365759"/>
          </a:xfrm>
          <a:prstGeom prst="rect">
            <a:avLst/>
          </a:prstGeom>
          <a:solidFill>
            <a:srgbClr val="101022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1168" y="3867911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Multi-Model Orchestration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11680" y="3822191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80" y="3858768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3822191"/>
            <a:ext cx="2743200" cy="365759"/>
          </a:xfrm>
          <a:prstGeom prst="rect">
            <a:avLst/>
          </a:prstGeom>
          <a:solidFill>
            <a:srgbClr val="201503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37760" y="3858768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3822191"/>
            <a:ext cx="329184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3858768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4206240"/>
            <a:ext cx="1828800" cy="365759"/>
          </a:xfrm>
          <a:prstGeom prst="rect">
            <a:avLst/>
          </a:prstGeom>
          <a:solidFill>
            <a:srgbClr val="14142A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1168" y="4251959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Background Execution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0" y="4206240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11680" y="4242816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4206240"/>
            <a:ext cx="274320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37760" y="4242816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4206240"/>
            <a:ext cx="329184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63840" y="4242816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4590288"/>
            <a:ext cx="1828800" cy="365759"/>
          </a:xfrm>
          <a:prstGeom prst="rect">
            <a:avLst/>
          </a:prstGeom>
          <a:solidFill>
            <a:srgbClr val="101022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1168" y="4636007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Output Validation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0" y="4590288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11680" y="4626864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4590288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37760" y="4626864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4590288"/>
            <a:ext cx="329184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4626864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4974336"/>
            <a:ext cx="1828800" cy="365759"/>
          </a:xfrm>
          <a:prstGeom prst="rect">
            <a:avLst/>
          </a:prstGeom>
          <a:solidFill>
            <a:srgbClr val="14142A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1168" y="5020055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Human Goal Authority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0" y="4974336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11680" y="5010912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37760" y="4974336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37760" y="5010912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63840" y="4974336"/>
            <a:ext cx="3291840" cy="365759"/>
          </a:xfrm>
          <a:prstGeom prst="rect">
            <a:avLst/>
          </a:prstGeom>
          <a:solidFill>
            <a:srgbClr val="05201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63840" y="5010912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5358383"/>
            <a:ext cx="1828800" cy="365759"/>
          </a:xfrm>
          <a:prstGeom prst="rect">
            <a:avLst/>
          </a:prstGeom>
          <a:solidFill>
            <a:srgbClr val="101022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1168" y="5404103"/>
            <a:ext cx="1691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Continuous Relationship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11680" y="5358383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11680" y="5394959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60" y="5358383"/>
            <a:ext cx="2743200" cy="365759"/>
          </a:xfrm>
          <a:prstGeom prst="rect">
            <a:avLst/>
          </a:prstGeom>
          <a:solidFill>
            <a:srgbClr val="20050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37760" y="5394959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863840" y="5358383"/>
            <a:ext cx="3291840" cy="365759"/>
          </a:xfrm>
          <a:prstGeom prst="rect">
            <a:avLst/>
          </a:prstGeom>
          <a:solidFill>
            <a:srgbClr val="20150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63840" y="5394959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5806440"/>
            <a:ext cx="11841480" cy="621792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4320" y="5907024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A78BFA"/>
                </a:solidFill>
                <a:latin typeface="Calibri"/>
              </a:rPr>
              <a:t>RESEARCH GAP:  Persistent understanding + mutual alignment + intelligence orchestration + verified execution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HADES DOESN'T START WITH A TASK.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IT STARTS WITH UNDERSTANDING.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31920" y="1417320"/>
            <a:ext cx="4114800" cy="347472"/>
          </a:xfrm>
          <a:prstGeom prst="rect">
            <a:avLst/>
          </a:prstGeom>
          <a:solidFill>
            <a:srgbClr val="1414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41648" y="14721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94A3B8"/>
                </a:solidFill>
                <a:latin typeface="Calibri"/>
              </a:rPr>
              <a:t>① USER INTENT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79" y="1463040"/>
            <a:ext cx="118872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79" y="1463040"/>
            <a:ext cx="1188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94A3B8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7647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020824"/>
            <a:ext cx="4114800" cy="347472"/>
          </a:xfrm>
          <a:prstGeom prst="rect">
            <a:avLst/>
          </a:prstGeom>
          <a:solidFill>
            <a:srgbClr val="0520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075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② CONVERSATION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79" y="2066543"/>
            <a:ext cx="1188720" cy="246888"/>
          </a:xfrm>
          <a:prstGeom prst="rect">
            <a:avLst/>
          </a:prstGeom>
          <a:solidFill>
            <a:srgbClr val="05201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79" y="2066543"/>
            <a:ext cx="1188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3682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624328"/>
            <a:ext cx="4114800" cy="347472"/>
          </a:xfrm>
          <a:prstGeom prst="rect">
            <a:avLst/>
          </a:prstGeom>
          <a:solidFill>
            <a:srgbClr val="0520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1648" y="26791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③ CLARIFICATION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79" y="2670048"/>
            <a:ext cx="1188720" cy="246888"/>
          </a:xfrm>
          <a:prstGeom prst="rect">
            <a:avLst/>
          </a:prstGeom>
          <a:solidFill>
            <a:srgbClr val="05201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79" y="2670048"/>
            <a:ext cx="1188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97180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227832"/>
            <a:ext cx="4114800" cy="347472"/>
          </a:xfrm>
          <a:prstGeom prst="rect">
            <a:avLst/>
          </a:prstGeom>
          <a:solidFill>
            <a:srgbClr val="0520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32826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④ PUSHBACK / ALIGN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79" y="3273552"/>
            <a:ext cx="1188720" cy="246888"/>
          </a:xfrm>
          <a:prstGeom prst="rect">
            <a:avLst/>
          </a:prstGeom>
          <a:solidFill>
            <a:srgbClr val="05201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79" y="3273552"/>
            <a:ext cx="1188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57530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831336"/>
            <a:ext cx="4114800" cy="347472"/>
          </a:xfrm>
          <a:prstGeom prst="rect">
            <a:avLst/>
          </a:prstGeom>
          <a:solidFill>
            <a:srgbClr val="0520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3886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⑤ MUTUAL UNDERSTANDING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79" y="3877056"/>
            <a:ext cx="1188720" cy="246888"/>
          </a:xfrm>
          <a:prstGeom prst="rect">
            <a:avLst/>
          </a:prstGeom>
          <a:solidFill>
            <a:srgbClr val="05201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79" y="3877056"/>
            <a:ext cx="1188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17880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4434840"/>
            <a:ext cx="448056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  <a:latin typeface="Calibri"/>
              </a:rPr>
              <a:t>🔒  MISSION 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00176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800">
                <a:solidFill>
                  <a:srgbClr val="A78BFA"/>
                </a:solidFill>
                <a:latin typeface="Calibri"/>
              </a:rPr>
              <a:t>NO EXECUTION WITHOUT MUTUAL UNDERSTANDING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2760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5532120"/>
            <a:ext cx="4114800" cy="347472"/>
          </a:xfrm>
          <a:prstGeom prst="rect">
            <a:avLst/>
          </a:prstGeom>
          <a:solidFill>
            <a:srgbClr val="20150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41648" y="55869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59E0B"/>
                </a:solidFill>
                <a:latin typeface="Calibri"/>
              </a:rPr>
              <a:t>⑦ PLANNING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79" y="5577840"/>
            <a:ext cx="1188720" cy="246888"/>
          </a:xfrm>
          <a:prstGeom prst="rect">
            <a:avLst/>
          </a:prstGeom>
          <a:solidFill>
            <a:srgbClr val="20150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79" y="5577840"/>
            <a:ext cx="1188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59E0B"/>
                </a:solidFill>
                <a:latin typeface="Calibri"/>
              </a:rPr>
              <a:t>PARTIAL 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58795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6135624"/>
            <a:ext cx="4114800" cy="347472"/>
          </a:xfrm>
          <a:prstGeom prst="rect">
            <a:avLst/>
          </a:prstGeom>
          <a:solidFill>
            <a:srgbClr val="0520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41648" y="61904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⑧ EXECUTION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79" y="6181344"/>
            <a:ext cx="1188720" cy="246888"/>
          </a:xfrm>
          <a:prstGeom prst="rect">
            <a:avLst/>
          </a:prstGeom>
          <a:solidFill>
            <a:srgbClr val="05201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79" y="6181344"/>
            <a:ext cx="1188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64830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6739128"/>
            <a:ext cx="4114800" cy="347472"/>
          </a:xfrm>
          <a:prstGeom prst="rect">
            <a:avLst/>
          </a:prstGeom>
          <a:solidFill>
            <a:srgbClr val="0520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41648" y="6793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⑨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79" y="6784848"/>
            <a:ext cx="1188720" cy="246888"/>
          </a:xfrm>
          <a:prstGeom prst="rect">
            <a:avLst/>
          </a:prstGeom>
          <a:solidFill>
            <a:srgbClr val="05201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79" y="6784848"/>
            <a:ext cx="1188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708660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7342632"/>
            <a:ext cx="4114800" cy="347472"/>
          </a:xfrm>
          <a:prstGeom prst="rect">
            <a:avLst/>
          </a:prstGeom>
          <a:solidFill>
            <a:srgbClr val="0520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41648" y="73974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⑩ DELIVERY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79" y="7388352"/>
            <a:ext cx="1188720" cy="246888"/>
          </a:xfrm>
          <a:prstGeom prst="rect">
            <a:avLst/>
          </a:prstGeom>
          <a:solidFill>
            <a:srgbClr val="05201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79" y="7388352"/>
            <a:ext cx="11887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" y="21945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280"/>
                </a:solidFill>
                <a:latin typeface="Calibri"/>
              </a:rPr>
              <a:t>BEFORE LOCK:
Hades reasons, clarifies,
pushes back — but
CANNOT execute tools.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21945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6B7280"/>
                </a:solidFill>
                <a:latin typeface="Calibri"/>
              </a:rPr>
              <a:t>AFTER LOCK:
Execution Brain takes
control. User controls
the GOAL, not the process.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400800"/>
            <a:ext cx="1143000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800">
                <a:solidFill>
                  <a:srgbClr val="6B7280"/>
                </a:solidFill>
                <a:latin typeface="Calibri"/>
              </a:rPr>
              <a:t>Conversation is the authorization layer between intent and action.  |  understanding_evaluator.py · mission.py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ONE PARTNER. MULTIPLE BRAINS.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MANY CAPABILITIES.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417320"/>
            <a:ext cx="11795760" cy="502920"/>
          </a:xfrm>
          <a:prstGeom prst="rect">
            <a:avLst/>
          </a:prstGeom>
          <a:solidFill>
            <a:srgbClr val="12122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94A3B8"/>
                </a:solidFill>
                <a:latin typeface="Calibri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Goal  ·  Context  · 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1527048"/>
            <a:ext cx="1554480" cy="256032"/>
          </a:xfrm>
          <a:prstGeom prst="rect">
            <a:avLst/>
          </a:prstGeom>
          <a:solidFill>
            <a:srgbClr val="12122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0" y="15270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HUMAN IN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956816"/>
            <a:ext cx="11795760" cy="502920"/>
          </a:xfrm>
          <a:prstGeom prst="rect">
            <a:avLst/>
          </a:prstGeom>
          <a:solidFill>
            <a:srgbClr val="0522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0025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0B981"/>
                </a:solidFill>
                <a:latin typeface="Calibri"/>
              </a:rPr>
              <a:t>PARTNER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231136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Intent Classification  |  Mission Extraction  |  Conversational Alignment  |  Session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30428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700">
                <a:solidFill>
                  <a:srgbClr val="6B7280"/>
                </a:solidFill>
                <a:latin typeface="Calibri"/>
              </a:rPr>
              <a:t>partner_brain.py · intent_classifier.py · understanding_evaluator.py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2066544"/>
            <a:ext cx="1554480" cy="256032"/>
          </a:xfrm>
          <a:prstGeom prst="rect">
            <a:avLst/>
          </a:prstGeom>
          <a:solidFill>
            <a:srgbClr val="05221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2066544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2496312"/>
            <a:ext cx="11795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5420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🔒  MISSION 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77063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MUTUAL UNDERSTANDING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2606040"/>
            <a:ext cx="1554480" cy="256032"/>
          </a:xfrm>
          <a:prstGeom prst="rect">
            <a:avLst/>
          </a:prstGeom>
          <a:solidFill>
            <a:srgbClr val="7C3AE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260604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IMPLEMENTED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3035808"/>
            <a:ext cx="11795760" cy="502920"/>
          </a:xfrm>
          <a:prstGeom prst="rect">
            <a:avLst/>
          </a:prstGeom>
          <a:solidFill>
            <a:srgbClr val="20150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081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59E0B"/>
                </a:solidFill>
                <a:latin typeface="Calibri"/>
              </a:rPr>
              <a:t>EXECUTIVE BRAIN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3101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Task Graph  |  Worker Delegation  |  Recovery &amp; Retry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383280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700">
                <a:solidFill>
                  <a:srgbClr val="6B7280"/>
                </a:solidFill>
                <a:latin typeface="Calibri"/>
              </a:rPr>
              <a:t>execution_brain.py  —  currently generates 1 task; dynamic decomposition = FUTURE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3145536"/>
            <a:ext cx="1554480" cy="256032"/>
          </a:xfrm>
          <a:prstGeom prst="rect">
            <a:avLst/>
          </a:prstGeom>
          <a:solidFill>
            <a:srgbClr val="20150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3145536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PARTIAL 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3575304"/>
            <a:ext cx="11795760" cy="502920"/>
          </a:xfrm>
          <a:prstGeom prst="rect">
            <a:avLst/>
          </a:prstGeom>
          <a:solidFill>
            <a:srgbClr val="20180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621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59E0B"/>
                </a:solidFill>
                <a:latin typeface="Calibri"/>
              </a:rPr>
              <a:t>WORKERS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84962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Terminal  |  Filesystem  |  Process Manager  |  Browser (partial)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922776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700">
                <a:solidFill>
                  <a:srgbClr val="6B7280"/>
                </a:solidFill>
                <a:latin typeface="Calibri"/>
              </a:rPr>
              <a:t>worker_manager.py · skills/  —  workers = model endpoints today; autonomous agents = FUTURE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3685032"/>
            <a:ext cx="1554480" cy="256032"/>
          </a:xfrm>
          <a:prstGeom prst="rect">
            <a:avLst/>
          </a:prstGeom>
          <a:solidFill>
            <a:srgbClr val="20180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3685032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PARTIAL 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" y="4114800"/>
            <a:ext cx="11795760" cy="502920"/>
          </a:xfrm>
          <a:prstGeom prst="rect">
            <a:avLst/>
          </a:prstGeom>
          <a:solidFill>
            <a:srgbClr val="041E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1605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0B981"/>
                </a:solidFill>
                <a:latin typeface="Calibri"/>
              </a:rPr>
              <a:t>MODEL PROVIDERS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38912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Gemini (Google)  |  Llama 3.3 (Groq)  |  OpenRouter  |  Ollama (Local)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462272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700">
                <a:solidFill>
                  <a:srgbClr val="6B7280"/>
                </a:solidFill>
                <a:latin typeface="Calibri"/>
              </a:rPr>
              <a:t>config.json · LiteLLM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4224528"/>
            <a:ext cx="1554480" cy="256032"/>
          </a:xfrm>
          <a:prstGeom prst="rect">
            <a:avLst/>
          </a:prstGeom>
          <a:solidFill>
            <a:srgbClr val="041E12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422452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" y="4654296"/>
            <a:ext cx="11795760" cy="502920"/>
          </a:xfrm>
          <a:prstGeom prst="rect">
            <a:avLst/>
          </a:prstGeom>
          <a:solidFill>
            <a:srgbClr val="041A20"/>
          </a:solidFill>
          <a:ln w="12700">
            <a:solidFill>
              <a:srgbClr val="1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7000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0B981"/>
                </a:solidFill>
                <a:latin typeface="Calibri"/>
              </a:rPr>
              <a:t>REVIEW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928616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Exit Code Validation  |  Artifact Check  |  Semantic LLM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00176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700">
                <a:solidFill>
                  <a:srgbClr val="6B7280"/>
                </a:solidFill>
                <a:latin typeface="Calibri"/>
              </a:rPr>
              <a:t>review_engine.py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32720" y="4764024"/>
            <a:ext cx="1554480" cy="256032"/>
          </a:xfrm>
          <a:prstGeom prst="rect">
            <a:avLst/>
          </a:prstGeom>
          <a:solidFill>
            <a:srgbClr val="041A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0" y="4764024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IMPLEMENTED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5193792"/>
            <a:ext cx="11795760" cy="502920"/>
          </a:xfrm>
          <a:prstGeom prst="rect">
            <a:avLst/>
          </a:prstGeom>
          <a:solidFill>
            <a:srgbClr val="20150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5239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59E0B"/>
                </a:solidFill>
                <a:latin typeface="Calibri"/>
              </a:rPr>
              <a:t>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546811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Session (in-memory)  |  Mission History (JSON)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541264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700">
                <a:solidFill>
                  <a:srgbClr val="6B7280"/>
                </a:solidFill>
                <a:latin typeface="Calibri"/>
              </a:rPr>
              <a:t>memory_manager.py  —  Vector/RAG = FUTURE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32720" y="5303520"/>
            <a:ext cx="1554480" cy="256032"/>
          </a:xfrm>
          <a:prstGeom prst="rect">
            <a:avLst/>
          </a:prstGeom>
          <a:solidFill>
            <a:srgbClr val="20150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0" y="5303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PARTIAL 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HADES THINKS IN MISSIONS.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NOT PROMPTS. NOT SESSIONS. NOT TABS.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TRADITIONAL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828800"/>
            <a:ext cx="50292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901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6B7280"/>
                </a:solidFill>
                <a:latin typeface="Calibri"/>
              </a:rPr>
              <a:t>USER sends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323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651760"/>
            <a:ext cx="50292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7249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6B7280"/>
                </a:solidFill>
                <a:latin typeface="Calibri"/>
              </a:rPr>
              <a:t>AI returns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552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474720"/>
            <a:ext cx="50292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47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F4444"/>
                </a:solidFill>
                <a:latin typeface="Calibri"/>
              </a:rPr>
              <a:t>Context lost. Start 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6B7280"/>
                </a:solidFill>
                <a:latin typeface="Calibri"/>
              </a:rPr>
              <a:t>Every message starts fresh.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005072"/>
            <a:ext cx="2011680" cy="256032"/>
          </a:xfrm>
          <a:prstGeom prst="rect">
            <a:avLst/>
          </a:prstGeom>
          <a:solidFill>
            <a:srgbClr val="2E0808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4005072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Context: None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334256"/>
            <a:ext cx="2011680" cy="256032"/>
          </a:xfrm>
          <a:prstGeom prst="rect">
            <a:avLst/>
          </a:prstGeom>
          <a:solidFill>
            <a:srgbClr val="2E0808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4334256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State: Disposable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663440"/>
            <a:ext cx="2011680" cy="256032"/>
          </a:xfrm>
          <a:prstGeom prst="rect">
            <a:avLst/>
          </a:prstGeom>
          <a:solidFill>
            <a:srgbClr val="2E0808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466344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Memory: Zero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371600"/>
            <a:ext cx="13716" cy="530352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14173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A78BFA"/>
                </a:solidFill>
                <a:latin typeface="Calibri"/>
              </a:rPr>
              <a:t>HADES MISSION OBJECT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6309360" cy="3566160"/>
          </a:xfrm>
          <a:prstGeom prst="rect">
            <a:avLst/>
          </a:prstGeom>
          <a:solidFill>
            <a:srgbClr val="100C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8288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78BFA"/>
                </a:solidFill>
                <a:latin typeface="Calibri"/>
              </a:rPr>
              <a:t>🎯 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8288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"Build a project scaffold..."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1762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78BFA"/>
                </a:solidFill>
                <a:latin typeface="Calibri"/>
              </a:rPr>
              <a:t>📋  desired_outcome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17627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"Working directory with..."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5237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78BFA"/>
                </a:solidFill>
                <a:latin typeface="Calibri"/>
              </a:rPr>
              <a:t>⚠️   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5237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["No external deps", ...]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287121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78BFA"/>
                </a:solidFill>
                <a:latin typeface="Calibri"/>
              </a:rPr>
              <a:t>✅  success_criteria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871215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"Directory exists, tests pass"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21868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78BFA"/>
                </a:solidFill>
                <a:latin typeface="Calibri"/>
              </a:rPr>
              <a:t>📊 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218687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BACKGROUND_WORK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566159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78BFA"/>
                </a:solidFill>
                <a:latin typeface="Calibri"/>
              </a:rPr>
              <a:t>🔒  mutual_understanding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566159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true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91363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78BFA"/>
                </a:solidFill>
                <a:latin typeface="Calibri"/>
              </a:rPr>
              <a:t>💬  conversation_history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913631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[14 messages]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426110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78BFA"/>
                </a:solidFill>
                <a:latin typeface="Calibri"/>
              </a:rPr>
              <a:t>💾  mission_id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261103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"m_8f3a..."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60857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78BFA"/>
                </a:solidFill>
                <a:latin typeface="Calibri"/>
              </a:rPr>
              <a:t>🏆  output_artifacts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608575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["scaffold.zip", ...]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321808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700">
                <a:solidFill>
                  <a:srgbClr val="6B7280"/>
                </a:solidFill>
                <a:latin typeface="Calibri"/>
              </a:rPr>
              <a:t>src/models/mission.py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5486400"/>
            <a:ext cx="11795760" cy="475488"/>
          </a:xfrm>
          <a:prstGeom prst="rect">
            <a:avLst/>
          </a:prstGeom>
          <a:solidFill>
            <a:srgbClr val="1414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59612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6B7280"/>
                </a:solidFill>
                <a:latin typeface="Calibri"/>
              </a:rPr>
              <a:t>CONVERSATION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5648" y="5596128"/>
            <a:ext cx="374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30552" y="5596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7C3AED"/>
                </a:solidFill>
                <a:latin typeface="Calibri"/>
              </a:rPr>
              <a:t>AUTHORIZED_EXECUTION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6552" y="5596128"/>
            <a:ext cx="374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91456" y="559612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F59E0B"/>
                </a:solidFill>
                <a:latin typeface="Calibri"/>
              </a:rPr>
              <a:t>BACKGROUND_WORK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74536" y="5596128"/>
            <a:ext cx="374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596128"/>
            <a:ext cx="1179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10B981"/>
                </a:solidFill>
                <a:latin typeface="Calibri"/>
              </a:rPr>
              <a:t>COMPLETED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9016" y="559612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F59E0B"/>
                </a:solidFill>
                <a:latin typeface="Calibri"/>
              </a:rPr>
              <a:t>/ NEEDS_USER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HADES MANAGES AI.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THE USER DOESN'T.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0" y="2560320"/>
            <a:ext cx="3200400" cy="109728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2633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A78BFA"/>
                </a:solidFill>
                <a:latin typeface="Calibri"/>
              </a:rPr>
              <a:t>WORKER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0358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94A3B8"/>
                </a:solidFill>
                <a:latin typeface="Calibri"/>
              </a:rPr>
              <a:t>capability routing · fallback · model-agnostic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3101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00">
                <a:solidFill>
                  <a:srgbClr val="6B7280"/>
                </a:solidFill>
                <a:latin typeface="Calibri"/>
              </a:rPr>
              <a:t>worker_manager.py · LiteLLM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280160"/>
            <a:ext cx="356616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Gemini 2.5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google  ·  conversational, fast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103120"/>
            <a:ext cx="356616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1488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Gemini Flash Latest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423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google  ·  research,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926080"/>
            <a:ext cx="356616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971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Llama 3.3 70B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groq  ·  fast, open-source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749039"/>
            <a:ext cx="356616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7947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Llama 3.2 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0690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openrouter  ·  free, public endpoint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572000"/>
            <a:ext cx="356616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617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59E0B"/>
                </a:solidFill>
                <a:latin typeface="Calibri"/>
              </a:rPr>
              <a:t>Ollama (local)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local  ·  private, offline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15727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7C3AED"/>
                </a:solidFill>
                <a:latin typeface="Calibri"/>
              </a:rPr>
              <a:t>─────────►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3957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7C3AED"/>
                </a:solidFill>
                <a:latin typeface="Calibri"/>
              </a:rPr>
              <a:t>─────────►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7C3AED"/>
                </a:solidFill>
                <a:latin typeface="Calibri"/>
              </a:rPr>
              <a:t>─────────►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041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7C3AED"/>
                </a:solidFill>
                <a:latin typeface="Calibri"/>
              </a:rPr>
              <a:t>─────────►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7C3AED"/>
                </a:solidFill>
                <a:latin typeface="Calibri"/>
              </a:rPr>
              <a:t>─────────►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280160"/>
            <a:ext cx="365760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14813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78BFA"/>
                </a:solidFill>
                <a:latin typeface="Calibri"/>
              </a:rPr>
              <a:t>→ Conversational 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103120"/>
            <a:ext cx="365760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23042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78BFA"/>
                </a:solidFill>
                <a:latin typeface="Calibri"/>
              </a:rPr>
              <a:t>→ Mission extraction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926080"/>
            <a:ext cx="365760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1272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78BFA"/>
                </a:solidFill>
                <a:latin typeface="Calibri"/>
              </a:rPr>
              <a:t>→ Command generation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749039"/>
            <a:ext cx="365760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95020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78BFA"/>
                </a:solidFill>
                <a:latin typeface="Calibri"/>
              </a:rPr>
              <a:t>→ Review / 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4572000"/>
            <a:ext cx="3657600" cy="685800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4773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6B7280"/>
                </a:solidFill>
                <a:latin typeface="Calibri"/>
              </a:rPr>
              <a:t>→ Future: Analysis agents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" y="5715000"/>
            <a:ext cx="11795760" cy="685800"/>
          </a:xfrm>
          <a:prstGeom prst="rect">
            <a:avLst/>
          </a:prstGeom>
          <a:solidFill>
            <a:srgbClr val="20150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83387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59E0B"/>
                </a:solidFill>
                <a:latin typeface="Calibri"/>
              </a:rPr>
              <a:t>⚡  CURRENT REALITY:  Workers = model endpoints routed via LiteLLM.  Autonomous specialized worker agents with independent execution loops = FUTURE MILESTONE.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AI DOESN'T GET TO DECLARE ITSELF SUCCESSFUL.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GENERATION ≠ COMPLETION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0" y="1371600"/>
            <a:ext cx="448056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50208" y="1426464"/>
            <a:ext cx="42976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6B7280"/>
                </a:solidFill>
                <a:latin typeface="Calibri"/>
              </a:rPr>
              <a:t>WORKER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7556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984248"/>
            <a:ext cx="4480560" cy="384048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2039112"/>
            <a:ext cx="42976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0B981"/>
                </a:solidFill>
                <a:latin typeface="Calibri"/>
              </a:rPr>
              <a:t>STAGE 1: EXIT CODE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682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596896"/>
            <a:ext cx="4480560" cy="274320"/>
          </a:xfrm>
          <a:prstGeom prst="rect">
            <a:avLst/>
          </a:prstGeom>
          <a:solidFill>
            <a:srgbClr val="1414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51760"/>
            <a:ext cx="42976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94A3B8"/>
                </a:solidFill>
                <a:latin typeface="Calibri"/>
              </a:rPr>
              <a:t>exit_code == 0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871215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099815"/>
            <a:ext cx="4480560" cy="384048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3154679"/>
            <a:ext cx="42976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0B981"/>
                </a:solidFill>
                <a:latin typeface="Calibri"/>
              </a:rPr>
              <a:t>STAGE 2: ARTIFACT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483863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712463"/>
            <a:ext cx="4480560" cy="274320"/>
          </a:xfrm>
          <a:prstGeom prst="rect">
            <a:avLst/>
          </a:prstGeom>
          <a:solidFill>
            <a:srgbClr val="1414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3767327"/>
            <a:ext cx="42976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94A3B8"/>
                </a:solidFill>
                <a:latin typeface="Calibri"/>
              </a:rPr>
              <a:t>Does output.txt exist on disk?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986783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4215383"/>
            <a:ext cx="4480560" cy="384048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4270247"/>
            <a:ext cx="42976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0B981"/>
                </a:solidFill>
                <a:latin typeface="Calibri"/>
              </a:rPr>
              <a:t>STAGE 3: HEURISTIC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9943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4828031"/>
            <a:ext cx="4480560" cy="274320"/>
          </a:xfrm>
          <a:prstGeom prst="rect">
            <a:avLst/>
          </a:prstGeom>
          <a:solidFill>
            <a:srgbClr val="1414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0208" y="4882895"/>
            <a:ext cx="42976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94A3B8"/>
                </a:solidFill>
                <a:latin typeface="Calibri"/>
              </a:rPr>
              <a:t>Output sanity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10235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5330951"/>
            <a:ext cx="4480560" cy="384048"/>
          </a:xfrm>
          <a:prstGeom prst="rect">
            <a:avLst/>
          </a:prstGeom>
          <a:solidFill>
            <a:srgbClr val="1E1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0208" y="5385815"/>
            <a:ext cx="42976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A78BFA"/>
                </a:solidFill>
                <a:latin typeface="Calibri"/>
              </a:rPr>
              <a:t>STAGE 4: SEMANTIC LLM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71499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5943599"/>
            <a:ext cx="4480560" cy="274320"/>
          </a:xfrm>
          <a:prstGeom prst="rect">
            <a:avLst/>
          </a:prstGeom>
          <a:solidFill>
            <a:srgbClr val="1414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0208" y="5998463"/>
            <a:ext cx="42976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94A3B8"/>
                </a:solidFill>
                <a:latin typeface="Calibri"/>
              </a:rPr>
              <a:t>LLM checks output vs success_criteria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5989320"/>
            <a:ext cx="2286000" cy="475488"/>
          </a:xfrm>
          <a:prstGeom prst="rect">
            <a:avLst/>
          </a:prstGeom>
          <a:solidFill>
            <a:srgbClr val="04221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60807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10B981"/>
                </a:solidFill>
                <a:latin typeface="Calibri"/>
              </a:rPr>
              <a:t>✓  PASS → DELIVER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5989320"/>
            <a:ext cx="2286000" cy="475488"/>
          </a:xfrm>
          <a:prstGeom prst="rect">
            <a:avLst/>
          </a:prstGeom>
          <a:solidFill>
            <a:srgbClr val="22100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60807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59E0B"/>
                </a:solidFill>
                <a:latin typeface="Calibri"/>
              </a:rPr>
              <a:t>🔄  RETRY → RE-PROMPT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1417320"/>
            <a:ext cx="3474720" cy="13716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13648" y="1490472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0B981"/>
                </a:solidFill>
                <a:latin typeface="Calibri"/>
              </a:rPr>
              <a:t>WHY THIS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1746504"/>
            <a:ext cx="3255263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LLMs generate plausible output —
not guaranteed correct output.
The Review Engine is the boundary
between AI assistant and reliable system.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2926080"/>
            <a:ext cx="3474720" cy="1371600"/>
          </a:xfrm>
          <a:prstGeom prst="rect">
            <a:avLst/>
          </a:prstGeom>
          <a:solidFill>
            <a:srgbClr val="1414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13648" y="2999232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A78BFA"/>
                </a:solidFill>
                <a:latin typeface="Calibri"/>
              </a:rPr>
              <a:t>RETRY MECHANISM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3255264"/>
            <a:ext cx="3255263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Failed output + error message fed
back to ExecutionBrain as context.
LLM attempts a different command.
Max retries enforced.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6B7280"/>
                </a:solidFill>
                <a:latin typeface="Calibri"/>
              </a:rPr>
              <a:t>review_engine.py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THE INTERFACE IS A 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FOR A LIVING MISSION.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417320"/>
            <a:ext cx="5029200" cy="457200"/>
          </a:xfrm>
          <a:prstGeom prst="rect">
            <a:avLst/>
          </a:prstGeom>
          <a:solidFill>
            <a:srgbClr val="1414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538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94A3B8"/>
                </a:solidFill>
                <a:latin typeface="Calibri"/>
              </a:rPr>
              <a:t>VOICE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7335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Web Speech API (browser STT)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1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075688"/>
            <a:ext cx="5029200" cy="457200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11226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REACT / VITE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317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frontend/src/  — 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3288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734056"/>
            <a:ext cx="5029200" cy="457200"/>
          </a:xfrm>
          <a:prstGeom prst="rect">
            <a:avLst/>
          </a:prstGeom>
          <a:solidFill>
            <a:srgbClr val="1E1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770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A78BFA"/>
                </a:solidFill>
                <a:latin typeface="Calibri"/>
              </a:rPr>
              <a:t>POST  /api/chat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9008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HadesService.sendMessage()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19125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392424"/>
            <a:ext cx="5029200" cy="457200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429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FASTAPI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648456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main.py  —  IMPLEMENTED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84962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050791"/>
            <a:ext cx="5029200" cy="457200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08736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PARTNER BRAIN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306824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Conversation + Mission 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0799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4709159"/>
            <a:ext cx="5029200" cy="457200"/>
          </a:xfrm>
          <a:prstGeom prst="rect">
            <a:avLst/>
          </a:prstGeom>
          <a:solidFill>
            <a:srgbClr val="20150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74573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59E0B"/>
                </a:solidFill>
                <a:latin typeface="Calibri"/>
              </a:rPr>
              <a:t>EXECUTION BRAIN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96519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Background async task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16635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5367527"/>
            <a:ext cx="5029200" cy="45720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40410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7C3AED"/>
                </a:solidFill>
                <a:latin typeface="Calibri"/>
              </a:rPr>
              <a:t>SSE  /api/events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623559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Real-time event 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824727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6025895"/>
            <a:ext cx="5029200" cy="457200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062471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LIVE UI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281927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System Activity feed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6483095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6684263"/>
            <a:ext cx="5029200" cy="457200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672083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HADES VOICE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940295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94A3B8"/>
                </a:solidFill>
                <a:latin typeface="Calibri"/>
              </a:rPr>
              <a:t>Kokoro-ONNX → Base64 → HTML5 Audio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1417320"/>
            <a:ext cx="6492240" cy="1024128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96128" y="1490472"/>
            <a:ext cx="62727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REAL-TIME EVENTS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6128" y="1746504"/>
            <a:ext cx="627278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Server-Sent Events stream every step to the UI.
Task started → capability selected → completed.
User sees Hades working, not just a spinner.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2551176"/>
            <a:ext cx="6492240" cy="1024128"/>
          </a:xfrm>
          <a:prstGeom prst="rect">
            <a:avLst/>
          </a:prstGeom>
          <a:solidFill>
            <a:srgbClr val="1414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96128" y="2624328"/>
            <a:ext cx="62727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A78BFA"/>
                </a:solidFill>
                <a:latin typeface="Calibri"/>
              </a:rPr>
              <a:t>BACKEND TTS — Kokoro-ONNX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2880360"/>
            <a:ext cx="627278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Local neural TTS on the backend server.
Audio encoded as Base64 in JSON response.
No cloud TTS dependency required.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3685032"/>
            <a:ext cx="6492240" cy="1024128"/>
          </a:xfrm>
          <a:prstGeom prst="rect">
            <a:avLst/>
          </a:prstGeom>
          <a:solidFill>
            <a:srgbClr val="1414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96128" y="3758184"/>
            <a:ext cx="62727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59E0B"/>
                </a:solidFill>
                <a:latin typeface="Calibri"/>
              </a:rPr>
              <a:t>VOICE INPUT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6128" y="4014216"/>
            <a:ext cx="627278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Currently: browser window.SpeechRecognition.
Backend Whisper STT — NOT YET IMPLEMENTED.
Future milestone for offline voice input.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818888"/>
            <a:ext cx="6492240" cy="1024128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96128" y="4892040"/>
            <a:ext cx="62727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0B981"/>
                </a:solidFill>
                <a:latin typeface="Calibri"/>
              </a:rPr>
              <a:t>SESSION PERSISTENCE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96128" y="5148072"/>
            <a:ext cx="627278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Session ID stored in localStorage.
Conversation history maintained in session.
Survives page refresh — not server restart.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47395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700">
                <a:solidFill>
                  <a:srgbClr val="6B7280"/>
                </a:solidFill>
                <a:latin typeface="Calibri"/>
              </a:rPr>
              <a:t>frontend/src/services/HadesService.ts  ·  main.py  ·  voice_manager.py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ONE SENTENCE → REAL COMPUTER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VERIFIED END-TO-END EXECUTION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89888"/>
            <a:ext cx="11612880" cy="457200"/>
          </a:xfrm>
          <a:prstGeom prst="rect">
            <a:avLst/>
          </a:prstGeom>
          <a:solidFill>
            <a:srgbClr val="0C0C22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A78BFA"/>
                </a:solidFill>
                <a:latin typeface="Calibri"/>
              </a:rPr>
              <a:t>&gt;  "List all files in the current directory and save them to output.txt."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993392"/>
            <a:ext cx="576072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2057400"/>
            <a:ext cx="320040" cy="246888"/>
          </a:xfrm>
          <a:prstGeom prst="rect">
            <a:avLst/>
          </a:prstGeom>
          <a:solidFill>
            <a:srgbClr val="94A3B8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2057400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57400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94A3B8"/>
                </a:solidFill>
                <a:latin typeface="Calibri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665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Types or speaks the command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2423160"/>
            <a:ext cx="576072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2487168"/>
            <a:ext cx="320040" cy="246888"/>
          </a:xfrm>
          <a:prstGeom prst="rect">
            <a:avLst/>
          </a:prstGeom>
          <a:solidFill>
            <a:srgbClr val="7C3AED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487168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87168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487168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7C3AED"/>
                </a:solidFill>
                <a:latin typeface="Calibri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496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HadesService.sendMessage → POST /api/chat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2852928"/>
            <a:ext cx="576072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2916936"/>
            <a:ext cx="320040" cy="246888"/>
          </a:xfrm>
          <a:prstGeom prst="rect">
            <a:avLst/>
          </a:prstGeom>
          <a:solidFill>
            <a:srgbClr val="7C3AED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2916936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916936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916936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7C3AED"/>
                </a:solidFill>
                <a:latin typeface="Calibri"/>
              </a:rPr>
              <a:t>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main.py receives request, looks up SessionState by UUID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3282696"/>
            <a:ext cx="576072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3346703"/>
            <a:ext cx="320040" cy="246888"/>
          </a:xfrm>
          <a:prstGeom prst="rect">
            <a:avLst/>
          </a:prstGeom>
          <a:solidFill>
            <a:srgbClr val="A78BFA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3346703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346703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346703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A78BFA"/>
                </a:solidFill>
                <a:latin typeface="Calibri"/>
              </a:rPr>
              <a:t>PARTNER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3558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IntentClassifier → classifies as SMALL_TASK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" y="3712463"/>
            <a:ext cx="576072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3776472"/>
            <a:ext cx="320040" cy="246888"/>
          </a:xfrm>
          <a:prstGeom prst="rect">
            <a:avLst/>
          </a:prstGeom>
          <a:solidFill>
            <a:srgbClr val="A78BFA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3776472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776472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77647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A78BFA"/>
                </a:solidFill>
                <a:latin typeface="Calibri"/>
              </a:rPr>
              <a:t>PARTNER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78561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MissionExtractor → populates MissionUnderstanding fields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" y="4142231"/>
            <a:ext cx="576072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" y="4206240"/>
            <a:ext cx="320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4206240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206240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206240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LOCK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421538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UnderstandingEvaluator → AUTHORIZED_EXECUTION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4571999"/>
            <a:ext cx="576072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2880" y="4636007"/>
            <a:ext cx="320040" cy="246888"/>
          </a:xfrm>
          <a:prstGeom prst="rect">
            <a:avLst/>
          </a:prstGeom>
          <a:solidFill>
            <a:srgbClr val="7C3AED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" y="4636007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636007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636007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7C3AED"/>
                </a:solidFill>
                <a:latin typeface="Calibri"/>
              </a:rPr>
              <a:t>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464515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asyncio.create_task(execution_brain.process_mission) — HTTP returns immediately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1993392"/>
            <a:ext cx="58978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2057400"/>
            <a:ext cx="320040" cy="246888"/>
          </a:xfrm>
          <a:prstGeom prst="rect">
            <a:avLst/>
          </a:prstGeom>
          <a:solidFill>
            <a:srgbClr val="F59E0B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2057400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08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56248" y="2057400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6248" y="2057400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59E0B"/>
                </a:solidFill>
                <a:latin typeface="Calibri"/>
              </a:rPr>
              <a:t>EXEC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20665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ExecutionBrain._generate_plan → 1-task TaskGraph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2423160"/>
            <a:ext cx="58978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2200" y="2487168"/>
            <a:ext cx="320040" cy="246888"/>
          </a:xfrm>
          <a:prstGeom prst="rect">
            <a:avLst/>
          </a:prstGeom>
          <a:solidFill>
            <a:srgbClr val="10B981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2487168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56248" y="2487168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56248" y="2487168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WORKER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79" y="24963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WorkerManager → Gemini → LLM generates: ls -la &gt; output.txt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2852928"/>
            <a:ext cx="58978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2916936"/>
            <a:ext cx="320040" cy="246888"/>
          </a:xfrm>
          <a:prstGeom prst="rect">
            <a:avLst/>
          </a:prstGeom>
          <a:solidFill>
            <a:srgbClr val="10B981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72200" y="2916936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56248" y="2916936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56248" y="2916936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TOOL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79" y="29260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TerminalSkill.execute() → asyncio.create_subprocess_shell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3282696"/>
            <a:ext cx="58978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3346703"/>
            <a:ext cx="320040" cy="246888"/>
          </a:xfrm>
          <a:prstGeom prst="rect">
            <a:avLst/>
          </a:prstGeom>
          <a:solidFill>
            <a:srgbClr val="10B981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72200" y="3346703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11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56248" y="3346703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56248" y="3346703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REVIEW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79" y="33558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ReviewEngine: exit_code==0 ✓  ·  output.txt exists on disk 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3712463"/>
            <a:ext cx="58978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72200" y="3776472"/>
            <a:ext cx="320040" cy="246888"/>
          </a:xfrm>
          <a:prstGeom prst="rect">
            <a:avLst/>
          </a:prstGeom>
          <a:solidFill>
            <a:srgbClr val="94A3B8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72200" y="3776472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56248" y="3776472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56248" y="3776472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94A3B8"/>
                </a:solidFill>
                <a:latin typeface="Calibri"/>
              </a:rPr>
              <a:t>MEMORY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26679" y="37856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memory_manager.add_mission_to_history() → memory.json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4142231"/>
            <a:ext cx="58978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72200" y="4206240"/>
            <a:ext cx="320040" cy="246888"/>
          </a:xfrm>
          <a:prstGeom prst="rect">
            <a:avLst/>
          </a:prstGeom>
          <a:solidFill>
            <a:srgbClr val="10B981"/>
          </a:solidFill>
          <a:ln w="9525">
            <a:solidFill>
              <a:srgbClr val="0F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72200" y="4206240"/>
            <a:ext cx="320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F0F1A"/>
                </a:solidFill>
                <a:latin typeface="Calibri"/>
              </a:rPr>
              <a:t>13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56248" y="4206240"/>
            <a:ext cx="1097280" cy="246888"/>
          </a:xfrm>
          <a:prstGeom prst="rect">
            <a:avLst/>
          </a:prstGeom>
          <a:solidFill>
            <a:srgbClr val="1414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56248" y="4206240"/>
            <a:ext cx="1097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Calibri"/>
              </a:rPr>
              <a:t>SSE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26679" y="421538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E2E8F0"/>
                </a:solidFill>
                <a:latin typeface="Calibri"/>
              </a:rPr>
              <a:t>EventSource emits MISSION_COMPLETED → UI updates, Hades speaks result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6355080"/>
            <a:ext cx="1161288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644652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94A3B8"/>
                </a:solidFill>
                <a:latin typeface="Calibri"/>
              </a:rPr>
              <a:t>CONVERSATION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73352" y="6446520"/>
            <a:ext cx="242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15668" y="644652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MISSION LOCK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14700" y="6446520"/>
            <a:ext cx="242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57016" y="6446520"/>
            <a:ext cx="17145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59E0B"/>
                </a:solidFill>
                <a:latin typeface="Calibri"/>
              </a:rPr>
              <a:t>ASYNC EXECUTION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71516" y="6446520"/>
            <a:ext cx="242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13832" y="644652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10B981"/>
                </a:solidFill>
                <a:latin typeface="Calibri"/>
              </a:rPr>
              <a:t>VERIFICATION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12864" y="6446520"/>
            <a:ext cx="242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55180" y="6446520"/>
            <a:ext cx="978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10B981"/>
                </a:solidFill>
                <a:latin typeface="Calibri"/>
              </a:rPr>
              <a:t>DELIVERY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THE PROTOTYPE IS REAL.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BUT IT IS NOT FINISHED.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389888"/>
            <a:ext cx="3840480" cy="384048"/>
          </a:xfrm>
          <a:prstGeom prst="rect">
            <a:avLst/>
          </a:prstGeom>
          <a:solidFill>
            <a:srgbClr val="04180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42646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0B981"/>
                </a:solidFill>
                <a:latin typeface="Calibri"/>
              </a:rPr>
              <a:t>✓  IMPLEMENTED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828800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87451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Conversation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2176272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222199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Intent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2523744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" y="256946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Mission Extraction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2871215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" y="291693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Mission State Machine (5 states)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3218687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" y="326440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Mission Lock 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3566159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" y="36118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WorkerManager + LiteLLM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3913631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395935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Multi-Provider Routing (Gemini, Groq, OpenRouter, Ollama)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4261103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" y="430682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Terminal Skill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4608575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" y="46542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Filesystem Skill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4956047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" y="500176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Process Manager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5303519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" y="534923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Review Engine (4 stages)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" y="5650991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" y="569671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Server-Sent Events stream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" y="5998463"/>
            <a:ext cx="3840480" cy="329184"/>
          </a:xfrm>
          <a:prstGeom prst="rect">
            <a:avLst/>
          </a:prstGeom>
          <a:solidFill>
            <a:srgbClr val="04180E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8" y="604418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React / Vite Frontend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1389888"/>
            <a:ext cx="3840480" cy="384048"/>
          </a:xfrm>
          <a:prstGeom prst="rect">
            <a:avLst/>
          </a:prstGeom>
          <a:solidFill>
            <a:srgbClr val="18100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59" y="142646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59E0B"/>
                </a:solidFill>
                <a:latin typeface="Calibri"/>
              </a:rPr>
              <a:t>⚡  PARTIAL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1828800"/>
            <a:ext cx="3840480" cy="329184"/>
          </a:xfrm>
          <a:prstGeom prst="rect">
            <a:avLst/>
          </a:prstGeom>
          <a:solidFill>
            <a:srgbClr val="181002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0248" y="187451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Worker specialization (endpoints only; no agent loops)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2176272"/>
            <a:ext cx="3840480" cy="329184"/>
          </a:xfrm>
          <a:prstGeom prst="rect">
            <a:avLst/>
          </a:prstGeom>
          <a:solidFill>
            <a:srgbClr val="181002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0248" y="222199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Task decomposition (hardcoded to 1 task)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2523744"/>
            <a:ext cx="3840480" cy="329184"/>
          </a:xfrm>
          <a:prstGeom prst="rect">
            <a:avLst/>
          </a:prstGeom>
          <a:solidFill>
            <a:srgbClr val="181002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0248" y="256946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Session memory (in-memory; lost on restart)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2871215"/>
            <a:ext cx="3840480" cy="329184"/>
          </a:xfrm>
          <a:prstGeom prst="rect">
            <a:avLst/>
          </a:prstGeom>
          <a:solidFill>
            <a:srgbClr val="181002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0248" y="291693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Mission memory (flat JSON; no semantic retrieval)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3218687"/>
            <a:ext cx="3840480" cy="329184"/>
          </a:xfrm>
          <a:prstGeom prst="rect">
            <a:avLst/>
          </a:prstGeom>
          <a:solidFill>
            <a:srgbClr val="181002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0248" y="326440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Voice input (browser SpeechRecognition only)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3566159"/>
            <a:ext cx="3840480" cy="329184"/>
          </a:xfrm>
          <a:prstGeom prst="rect">
            <a:avLst/>
          </a:prstGeom>
          <a:solidFill>
            <a:srgbClr val="181002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0248" y="36118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Browser skill (Playwright wrapper, unverified E2E)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3913631"/>
            <a:ext cx="3840480" cy="329184"/>
          </a:xfrm>
          <a:prstGeom prst="rect">
            <a:avLst/>
          </a:prstGeom>
          <a:solidFill>
            <a:srgbClr val="181002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0248" y="395935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Equal partnership guardrails (prompt-based only)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1389888"/>
            <a:ext cx="3840480" cy="384048"/>
          </a:xfrm>
          <a:prstGeom prst="rect">
            <a:avLst/>
          </a:prstGeom>
          <a:solidFill>
            <a:srgbClr val="18040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19" y="142646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F4444"/>
                </a:solidFill>
                <a:latin typeface="Calibri"/>
              </a:rPr>
              <a:t>✗  MISSING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1828800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93607" y="187451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Dynamic multi-step TaskGraph decomposition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79" y="2176272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3607" y="222199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Autonomous specialized worker agents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79" y="2523744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3607" y="256946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RAG / Vector semantic memory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79" y="2871215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3607" y="291693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Backend Whisper STT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79" y="3218687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93607" y="326440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Docker / sandbox isolation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3566159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93607" y="36118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Execution security hardening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79" y="3913631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93607" y="395935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Deep Linux / systemd / D-Bus integration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4261103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93607" y="430682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Structured logging + observability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79" y="4608575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93607" y="46542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Comprehensive test suite (1 file exists)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83879" y="4956047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93607" y="500176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Production-grade automation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83879" y="5303519"/>
            <a:ext cx="3840480" cy="329184"/>
          </a:xfrm>
          <a:prstGeom prst="rect">
            <a:avLst/>
          </a:prstGeom>
          <a:solidFill>
            <a:srgbClr val="180404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93607" y="534923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E2E8F0"/>
                </a:solidFill>
                <a:latin typeface="Calibri"/>
              </a:rPr>
              <a:t>Cross-session persistent identity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7160" y="6355080"/>
            <a:ext cx="1184148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017520" y="6473952"/>
            <a:ext cx="2286000" cy="274320"/>
          </a:xfrm>
          <a:prstGeom prst="rect">
            <a:avLst/>
          </a:prstGeom>
          <a:solidFill>
            <a:srgbClr val="04180E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17520" y="64739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Calibri"/>
              </a:rPr>
              <a:t>CORE LOOP: PROVEN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66560" y="6473952"/>
            <a:ext cx="2286000" cy="274320"/>
          </a:xfrm>
          <a:prstGeom prst="rect">
            <a:avLst/>
          </a:prstGeom>
          <a:solidFill>
            <a:srgbClr val="1E1040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0" y="64739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Calibri"/>
              </a:rPr>
              <a:t>AI OS: IN PROGRESS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WHAT HADES ACTUALLY CONTRIBUTES.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7 ARCHITECTURAL NOVELTIES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389888"/>
            <a:ext cx="2926080" cy="16002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4538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6B7280"/>
                </a:solidFill>
                <a:latin typeface="Calibri"/>
              </a:rPr>
              <a:t>01  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737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10B981"/>
                </a:solidFill>
                <a:latin typeface="Calibri"/>
              </a:rPr>
              <a:t>MUTUAL UNDERSTANDING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50">
                <a:solidFill>
                  <a:srgbClr val="94A3B8"/>
                </a:solidFill>
                <a:latin typeface="Calibri"/>
              </a:rPr>
              <a:t>Conversation is the authorization layer. Execution is gated by a deterministic state check: objective + desired_outcome + success_criteria + mutual_understanding. No other AI system gates tool use on explicit human-alignment verification.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1389888"/>
            <a:ext cx="2926080" cy="16002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4538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6B7280"/>
                </a:solidFill>
                <a:latin typeface="Calibri"/>
              </a:rPr>
              <a:t>02  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737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10B981"/>
                </a:solidFill>
                <a:latin typeface="Calibri"/>
              </a:rPr>
              <a:t>MISSION-CENTRIC COMPUTING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50">
                <a:solidFill>
                  <a:srgbClr val="94A3B8"/>
                </a:solidFill>
                <a:latin typeface="Calibri"/>
              </a:rPr>
              <a:t>Prompts are disposable. Missions are persistent units with structured fields: objective, constraints, success criteria, state, and outcome. The mission survives the full conversation → execution → review → memory lifecycle.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1389888"/>
            <a:ext cx="2926080" cy="16002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3" y="14538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6B7280"/>
                </a:solidFill>
                <a:latin typeface="Calibri"/>
              </a:rPr>
              <a:t>03  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3" y="1737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10B981"/>
                </a:solidFill>
                <a:latin typeface="Calibri"/>
              </a:rPr>
              <a:t>PARTNER + EXECUTIVE DUALITY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3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50">
                <a:solidFill>
                  <a:srgbClr val="94A3B8"/>
                </a:solidFill>
                <a:latin typeface="Calibri"/>
              </a:rPr>
              <a:t>Two isolated cognitive systems. Partner Brain handles conversation — never touches tools. Executive Brain handles planning — never engages user directly. Prevents the classic agent failure: execution and conversation contaminating each 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72016" y="1389888"/>
            <a:ext cx="2834640" cy="16002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3456" y="14538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6B7280"/>
                </a:solidFill>
                <a:latin typeface="Calibri"/>
              </a:rPr>
              <a:t>04  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17373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10B981"/>
                </a:solidFill>
                <a:latin typeface="Calibri"/>
              </a:rPr>
              <a:t>INVISIBLE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21031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50">
                <a:solidFill>
                  <a:srgbClr val="94A3B8"/>
                </a:solidFill>
                <a:latin typeface="Calibri"/>
              </a:rPr>
              <a:t>User expresses a goal in natural language. Hades internally classifies capability, selects the right model, routes the prompt, collects results, validates output — without the user knowing which model was used. Intelligence becomes infrastructure.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3090672"/>
            <a:ext cx="3794760" cy="16002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31546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6B7280"/>
                </a:solidFill>
                <a:latin typeface="Calibri"/>
              </a:rPr>
              <a:t>05 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438144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10B981"/>
                </a:solidFill>
                <a:latin typeface="Calibri"/>
              </a:rPr>
              <a:t>VERIFICATION-FIRST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3803904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50">
                <a:solidFill>
                  <a:srgbClr val="94A3B8"/>
                </a:solidFill>
                <a:latin typeface="Calibri"/>
              </a:rPr>
              <a:t>Workers generate output. Review Engine determines if the MISSION was completed. 4-stage validation: exit code → artifact existence → heuristic → LLM semantic review. On failure, system retries with error as context. Generation ≠ Success.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0791" y="3090672"/>
            <a:ext cx="3794760" cy="1600200"/>
          </a:xfrm>
          <a:prstGeom prst="rect">
            <a:avLst/>
          </a:prstGeom>
          <a:solidFill>
            <a:srgbClr val="1414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2231" y="31546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6B7280"/>
                </a:solidFill>
                <a:latin typeface="Calibri"/>
              </a:rPr>
              <a:t>06  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2231" y="3438144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10B981"/>
                </a:solidFill>
                <a:latin typeface="Calibri"/>
              </a:rPr>
              <a:t>MODEL-AGNOSTIC AI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3803904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50">
                <a:solidFill>
                  <a:srgbClr val="94A3B8"/>
                </a:solidFill>
                <a:latin typeface="Calibri"/>
              </a:rPr>
              <a:t>LiteLLM wraps Google, Groq, OpenRouter, and local Ollama behind a unified interface. Fallback is automatic. New models added via config.json without code changes. The system is not architecturally coupled to any vendor.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64424" y="3090672"/>
            <a:ext cx="4160520" cy="1600200"/>
          </a:xfrm>
          <a:prstGeom prst="rect">
            <a:avLst/>
          </a:prstGeom>
          <a:solidFill>
            <a:srgbClr val="1414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5864" y="31546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6B7280"/>
                </a:solidFill>
                <a:latin typeface="Calibri"/>
              </a:rPr>
              <a:t>07  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343814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59E0B"/>
                </a:solidFill>
                <a:latin typeface="Calibri"/>
              </a:rPr>
              <a:t>PERSISTENT RELATIONSHIP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5864" y="3803904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50">
                <a:solidFill>
                  <a:srgbClr val="94A3B8"/>
                </a:solidFill>
                <a:latin typeface="Calibri"/>
              </a:rPr>
              <a:t>Mission history, conversation context, and user identity persist across interactions. Hades addresses users by name and recalls past missions. Lays the foundation for genuine long-term AI partnership — not session-scoped Q&amp;A. (RAG = future milestone)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800600"/>
            <a:ext cx="1161288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86460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400">
                <a:solidFill>
                  <a:srgbClr val="FFFFFF"/>
                </a:solidFill>
                <a:latin typeface="Calibri"/>
              </a:rPr>
              <a:t>The novelty is not another smarter model.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2303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A78BFA"/>
                </a:solidFill>
                <a:latin typeface="Calibri"/>
              </a:rPr>
              <a:t>It is a system that organizes intelligence around human intent.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400">
                <a:solidFill>
                  <a:srgbClr val="FFFFFF"/>
                </a:solidFill>
                <a:latin typeface="Calibri"/>
              </a:rPr>
              <a:t>FROM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78BFA"/>
                </a:solidFill>
                <a:latin typeface="Calibri"/>
              </a:rPr>
              <a:t>TO TRUE AI OPERATING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389888"/>
            <a:ext cx="3840480" cy="457200"/>
          </a:xfrm>
          <a:prstGeom prst="rect">
            <a:avLst/>
          </a:prstGeom>
          <a:solidFill>
            <a:srgbClr val="041E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435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0B981"/>
                </a:solidFill>
                <a:latin typeface="Calibri"/>
              </a:rPr>
              <a:t>v0.1  · 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920240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93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✓  Partner Brain conversational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2322576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2395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✓  Mission Lock authorization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2724912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27980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✓  Multi-provider model routing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3127248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3200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✓  Terminal + filesystem 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3529584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6027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✓  Review Engine (4-stage validation)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3931920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0050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✓  Real-time SSE event stream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4334256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4407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✓  Backend TTS — Kokoro-ONNX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4736592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4809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✓  Complete E2E execution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5230368"/>
            <a:ext cx="3840480" cy="274320"/>
          </a:xfrm>
          <a:prstGeom prst="rect">
            <a:avLst/>
          </a:prstGeom>
          <a:solidFill>
            <a:srgbClr val="041E1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5230368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CORE LOOP: PROVEN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7368" y="1389888"/>
            <a:ext cx="3840480" cy="457200"/>
          </a:xfrm>
          <a:prstGeom prst="rect">
            <a:avLst/>
          </a:prstGeom>
          <a:solidFill>
            <a:srgbClr val="20150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8808" y="1435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59E0B"/>
                </a:solidFill>
                <a:latin typeface="Calibri"/>
              </a:rPr>
              <a:t>v0.2  ·  NEXT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87368" y="1920240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8808" y="1993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→  Dynamic TaskGraph decomposition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87368" y="2322576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8808" y="2395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→  True multi-step mission execution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87368" y="2724912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8808" y="27980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→  Docker sandbox (safe terminal)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87368" y="3127248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8808" y="3200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→  Whisper backend STT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87368" y="3529584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8808" y="36027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→  Specialized autonomous workers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87368" y="3931920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78808" y="40050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→  Vector / RAG semantic memory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87368" y="4334256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78808" y="4407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→  Security hardening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87368" y="4736592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78808" y="4809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→  E2E test suite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87368" y="5230368"/>
            <a:ext cx="3840480" cy="274320"/>
          </a:xfrm>
          <a:prstGeom prst="rect">
            <a:avLst/>
          </a:prstGeom>
          <a:solidFill>
            <a:srgbClr val="201503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87368" y="5230368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KNOWN ENGINEERING PROBLEMS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37576" y="1389888"/>
            <a:ext cx="3840480" cy="457200"/>
          </a:xfrm>
          <a:prstGeom prst="rect">
            <a:avLst/>
          </a:prstGeom>
          <a:solidFill>
            <a:srgbClr val="1E104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29016" y="1435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A78BFA"/>
                </a:solidFill>
                <a:latin typeface="Calibri"/>
              </a:rPr>
              <a:t>v1.0  ·  AI OS VISION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7576" y="1920240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9016" y="1993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◆  Persistent cross-device 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37576" y="2322576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29016" y="2395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◆  Autonomous mission scheduling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37576" y="2724912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29016" y="27980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◆  Event-driven background missions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37576" y="3127248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9016" y="3200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◆  Plugin / skill ecosystem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37576" y="3529584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29016" y="36027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◆  Distributed multi-node execution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37576" y="3931920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29016" y="40050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◆  Local + cloud intelligence blend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7576" y="4334256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29016" y="4407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◆  Long-term human-AI partnership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37576" y="4736592"/>
            <a:ext cx="3840480" cy="384048"/>
          </a:xfrm>
          <a:prstGeom prst="rect">
            <a:avLst/>
          </a:prstGeom>
          <a:solidFill>
            <a:srgbClr val="14142A"/>
          </a:solidFill>
          <a:ln w="12700">
            <a:solidFill>
              <a:srgbClr val="2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29016" y="4809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E2E8F0"/>
                </a:solidFill>
                <a:latin typeface="Calibri"/>
              </a:rPr>
              <a:t>◆  Deep Linux / systemd integration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37576" y="5230368"/>
            <a:ext cx="3840480" cy="274320"/>
          </a:xfrm>
          <a:prstGeom prst="rect">
            <a:avLst/>
          </a:prstGeom>
          <a:solidFill>
            <a:srgbClr val="1E1040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37576" y="5230368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A78BFA"/>
                </a:solidFill>
                <a:latin typeface="Calibri"/>
              </a:rPr>
              <a:t>THE ACTUAL AI OS VISION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760720"/>
            <a:ext cx="1161288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5870448"/>
            <a:ext cx="1161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  <a:latin typeface="Calibri"/>
              </a:rPr>
              <a:t>HUMAN SETS THE MISSION.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6309360"/>
            <a:ext cx="1161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400">
                <a:solidFill>
                  <a:srgbClr val="A78BFA"/>
                </a:solidFill>
                <a:latin typeface="Calibri"/>
              </a:rPr>
              <a:t>HADES ORCHESTRATES THE INTELLIGENCE.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6748272"/>
            <a:ext cx="1161288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6B728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