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Shape 1"/>
          <p:cNvSpPr/>
          <p:nvPr/>
        </p:nvSpPr>
        <p:spPr>
          <a:xfrm>
            <a:off x="3383719" y="1044550"/>
            <a:ext cx="2376487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89460" y="1075506"/>
            <a:ext cx="296500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HACKATHON BUILD · AI SYSTEMS ENGINEERING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193921" y="1575495"/>
            <a:ext cx="7560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2835"/>
              </a:spcBef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1750312" y="1494532"/>
            <a:ext cx="5643302" cy="1400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40" b="1" spc="1382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</a:t>
            </a:r>
            <a:pPr algn="ctr" indent="0" marL="0">
              <a:buNone/>
            </a:pPr>
            <a:r>
              <a:rPr lang="en-US" sz="8640" b="1" spc="1382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pPr algn="ctr" indent="0" marL="0">
              <a:buNone/>
            </a:pPr>
            <a:r>
              <a:rPr lang="en-US" sz="8640" b="1" spc="1382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</a:t>
            </a:r>
            <a:pPr algn="ctr" indent="0" marL="0">
              <a:buNone/>
            </a:pPr>
            <a:r>
              <a:rPr lang="en-US" sz="8640" b="1" spc="1382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</a:t>
            </a:r>
            <a:pPr algn="ctr" indent="0" marL="0">
              <a:buNone/>
            </a:pPr>
            <a:r>
              <a:rPr lang="en-US" sz="8640" b="1" spc="1382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8640" dirty="0"/>
          </a:p>
        </p:txBody>
      </p:sp>
      <p:sp>
        <p:nvSpPr>
          <p:cNvPr id="8" name="Text 5"/>
          <p:cNvSpPr/>
          <p:nvPr/>
        </p:nvSpPr>
        <p:spPr>
          <a:xfrm>
            <a:off x="1913026" y="2794471"/>
            <a:ext cx="531787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810"/>
              </a:spcBef>
              <a:buNone/>
            </a:pPr>
            <a:r>
              <a:rPr lang="en-US" sz="1120" spc="89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AI ASSISTANT TO AI OPERATING SYSTEM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2614389" y="3366418"/>
            <a:ext cx="41353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3062362" y="3307854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3389412" y="3366418"/>
            <a:ext cx="41353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3837384" y="3307854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4164434" y="3366418"/>
            <a:ext cx="169657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MODELS + TOOLS + SYSTEM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5599361" y="3307854"/>
            <a:ext cx="2563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5926410" y="3366418"/>
            <a:ext cx="84121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RESULT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1619213" y="3820753"/>
            <a:ext cx="5905500" cy="328613"/>
          </a:xfrm>
          <a:prstGeom prst="roundRect">
            <a:avLst>
              <a:gd name="adj" fmla="val 27826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6372" y="3906962"/>
            <a:ext cx="701118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user should manage the goal — not the intelligence required to achieve it.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165458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THE PROBLEM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10244562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AI PROBLEM IS NO LONGER CAPABILITY.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548580" y="949747"/>
            <a:ext cx="256228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spc="89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IS ORCHESTRATION.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547650" y="1257895"/>
            <a:ext cx="3933825" cy="3190875"/>
          </a:xfrm>
          <a:prstGeom prst="roundRect">
            <a:avLst>
              <a:gd name="adj" fmla="val 2866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3029" y="1373312"/>
            <a:ext cx="135779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82" kern="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TODAY'S AI STACK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2219213" y="2574243"/>
            <a:ext cx="638175" cy="638175"/>
          </a:xfrm>
          <a:prstGeom prst="ellipse">
            <a:avLst/>
          </a:prstGeom>
          <a:solidFill>
            <a:srgbClr val="EF4444">
              <a:alpha val="16000"/>
            </a:srgbClr>
          </a:solidFill>
          <a:ln w="4763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2773" y="2813745"/>
            <a:ext cx="3575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847799" y="1792188"/>
            <a:ext cx="704850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2620" y="1911251"/>
            <a:ext cx="3837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962620" y="2020788"/>
            <a:ext cx="67492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3595390" y="1716584"/>
            <a:ext cx="585788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10062" y="1835646"/>
            <a:ext cx="42388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710062" y="1945184"/>
            <a:ext cx="52052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Coding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700906" y="2775049"/>
            <a:ext cx="642938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4462" y="2894112"/>
            <a:ext cx="4813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CHATGPT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814462" y="3003649"/>
            <a:ext cx="59772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Writing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3804196" y="2699445"/>
            <a:ext cx="523875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17603" y="2818507"/>
            <a:ext cx="40550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NOTION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917603" y="2928045"/>
            <a:ext cx="44332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Notes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1143930" y="3522613"/>
            <a:ext cx="823913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58863" y="3641675"/>
            <a:ext cx="38054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ZAPIER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258863" y="3751213"/>
            <a:ext cx="82941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Automation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098341" y="3547839"/>
            <a:ext cx="823913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13274" y="3666902"/>
            <a:ext cx="54877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CALENDAR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3213274" y="3776439"/>
            <a:ext cx="82941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Scheduling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2182267" y="3623444"/>
            <a:ext cx="523875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95674" y="3742506"/>
            <a:ext cx="35278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GMAIL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2295674" y="3852044"/>
            <a:ext cx="44332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1057405" y="4110707"/>
            <a:ext cx="291431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human IS the orchestration layer.</a:t>
            </a:r>
            <a:endParaRPr lang="en-US" sz="720" dirty="0"/>
          </a:p>
        </p:txBody>
      </p:sp>
      <p:sp>
        <p:nvSpPr>
          <p:cNvPr id="33" name="Shape 30"/>
          <p:cNvSpPr/>
          <p:nvPr/>
        </p:nvSpPr>
        <p:spPr>
          <a:xfrm>
            <a:off x="4662488" y="1257895"/>
            <a:ext cx="3933825" cy="3190875"/>
          </a:xfrm>
          <a:prstGeom prst="roundRect">
            <a:avLst>
              <a:gd name="adj" fmla="val 2866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77829" y="1373312"/>
            <a:ext cx="11952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82" kern="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HIDDEN TAX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4777829" y="1626394"/>
            <a:ext cx="27083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</a:t>
            </a:r>
            <a:pPr algn="l" indent="0" marL="0">
              <a:buNone/>
            </a:pPr>
            <a:r>
              <a:rPr lang="en-US" sz="81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 switching between tools</a:t>
            </a:r>
            <a:endParaRPr lang="en-US" sz="810" dirty="0"/>
          </a:p>
        </p:txBody>
      </p:sp>
      <p:sp>
        <p:nvSpPr>
          <p:cNvPr id="36" name="Text 33"/>
          <p:cNvSpPr/>
          <p:nvPr/>
        </p:nvSpPr>
        <p:spPr>
          <a:xfrm>
            <a:off x="4777829" y="1836390"/>
            <a:ext cx="28680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</a:t>
            </a:r>
            <a:pPr algn="l" indent="0" marL="0">
              <a:buNone/>
            </a:pPr>
            <a:r>
              <a:rPr lang="en-US" sz="81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Repeating yourself to every model</a:t>
            </a:r>
            <a:endParaRPr lang="en-US" sz="810" dirty="0"/>
          </a:p>
        </p:txBody>
      </p:sp>
      <p:sp>
        <p:nvSpPr>
          <p:cNvPr id="37" name="Text 34"/>
          <p:cNvSpPr/>
          <p:nvPr/>
        </p:nvSpPr>
        <p:spPr>
          <a:xfrm>
            <a:off x="4777829" y="2046387"/>
            <a:ext cx="27083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</a:t>
            </a:r>
            <a:pPr algn="l" indent="0" marL="0">
              <a:buNone/>
            </a:pPr>
            <a:r>
              <a:rPr lang="en-US" sz="81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Manually selecting the right AI</a:t>
            </a:r>
            <a:endParaRPr lang="en-US" sz="810" dirty="0"/>
          </a:p>
        </p:txBody>
      </p:sp>
      <p:sp>
        <p:nvSpPr>
          <p:cNvPr id="38" name="Text 35"/>
          <p:cNvSpPr/>
          <p:nvPr/>
        </p:nvSpPr>
        <p:spPr>
          <a:xfrm>
            <a:off x="4777829" y="2256383"/>
            <a:ext cx="27882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</a:t>
            </a:r>
            <a:pPr algn="l" indent="0" marL="0">
              <a:buNone/>
            </a:pPr>
            <a:r>
              <a:rPr lang="en-US" sz="81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Managing workflow and sequencing</a:t>
            </a:r>
            <a:endParaRPr lang="en-US" sz="810" dirty="0"/>
          </a:p>
        </p:txBody>
      </p:sp>
      <p:sp>
        <p:nvSpPr>
          <p:cNvPr id="39" name="Text 36"/>
          <p:cNvSpPr/>
          <p:nvPr/>
        </p:nvSpPr>
        <p:spPr>
          <a:xfrm>
            <a:off x="4777829" y="2466380"/>
            <a:ext cx="254864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</a:t>
            </a:r>
            <a:pPr algn="l" indent="0" marL="0">
              <a:buNone/>
            </a:pPr>
            <a:r>
              <a:rPr lang="en-US" sz="81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 lost between sessions</a:t>
            </a:r>
            <a:endParaRPr lang="en-US" sz="810" dirty="0"/>
          </a:p>
        </p:txBody>
      </p:sp>
      <p:sp>
        <p:nvSpPr>
          <p:cNvPr id="40" name="Text 37"/>
          <p:cNvSpPr/>
          <p:nvPr/>
        </p:nvSpPr>
        <p:spPr>
          <a:xfrm>
            <a:off x="4777829" y="2676376"/>
            <a:ext cx="28680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</a:t>
            </a:r>
            <a:pPr algn="l" indent="0" marL="0">
              <a:buNone/>
            </a:pPr>
            <a:r>
              <a:rPr lang="en-US" sz="81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fatigue from tool sprawl</a:t>
            </a:r>
            <a:endParaRPr lang="en-US" sz="810" dirty="0"/>
          </a:p>
        </p:txBody>
      </p:sp>
      <p:sp>
        <p:nvSpPr>
          <p:cNvPr id="41" name="Text 38"/>
          <p:cNvSpPr/>
          <p:nvPr/>
        </p:nvSpPr>
        <p:spPr>
          <a:xfrm>
            <a:off x="4777829" y="3205683"/>
            <a:ext cx="41233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Today's AI gives humans MORE capabilities.</a:t>
            </a:r>
            <a:endParaRPr lang="en-US" sz="1190" dirty="0"/>
          </a:p>
        </p:txBody>
      </p:sp>
      <p:sp>
        <p:nvSpPr>
          <p:cNvPr id="42" name="Text 39"/>
          <p:cNvSpPr/>
          <p:nvPr/>
        </p:nvSpPr>
        <p:spPr>
          <a:xfrm>
            <a:off x="4777829" y="3445743"/>
            <a:ext cx="42092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9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Hades is designed to REMOVE the burden of</a:t>
            </a:r>
            <a:endParaRPr lang="en-US" sz="1190" dirty="0"/>
          </a:p>
        </p:txBody>
      </p:sp>
      <p:sp>
        <p:nvSpPr>
          <p:cNvPr id="43" name="Text 40"/>
          <p:cNvSpPr/>
          <p:nvPr/>
        </p:nvSpPr>
        <p:spPr>
          <a:xfrm>
            <a:off x="4777829" y="3634383"/>
            <a:ext cx="186770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9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coordinating them.</a:t>
            </a:r>
            <a:endParaRPr lang="en-US" sz="1190" dirty="0"/>
          </a:p>
        </p:txBody>
      </p:sp>
      <p:sp>
        <p:nvSpPr>
          <p:cNvPr id="44" name="Text 41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6788" y="1590675"/>
            <a:ext cx="3705225" cy="209550"/>
          </a:xfrm>
          <a:prstGeom prst="rect">
            <a:avLst/>
          </a:prstGeom>
        </p:spPr>
      </p:pic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6788" y="1800671"/>
            <a:ext cx="3705225" cy="209550"/>
          </a:xfrm>
          <a:prstGeom prst="rect">
            <a:avLst/>
          </a:prstGeom>
        </p:spPr>
      </p:pic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76788" y="2010668"/>
            <a:ext cx="3705225" cy="209550"/>
          </a:xfrm>
          <a:prstGeom prst="rect">
            <a:avLst/>
          </a:prstGeom>
        </p:spPr>
      </p:pic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76788" y="2220664"/>
            <a:ext cx="3705225" cy="209550"/>
          </a:xfrm>
          <a:prstGeom prst="rect">
            <a:avLst/>
          </a:prstGeom>
        </p:spPr>
      </p:pic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76788" y="2430661"/>
            <a:ext cx="3705225" cy="209550"/>
          </a:xfrm>
          <a:prstGeom prst="rect">
            <a:avLst/>
          </a:prstGeom>
        </p:spPr>
      </p:pic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76788" y="2640657"/>
            <a:ext cx="37052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12552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THE GAP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821247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EXISTING AI SYSTEMS STOP</a:t>
            </a:r>
            <a:endParaRPr lang="en-US" sz="2880" dirty="0"/>
          </a:p>
        </p:txBody>
      </p:sp>
      <p:sp>
        <p:nvSpPr>
          <p:cNvPr id="6" name="Shape 3"/>
          <p:cNvSpPr/>
          <p:nvPr/>
        </p:nvSpPr>
        <p:spPr>
          <a:xfrm>
            <a:off x="547688" y="1072828"/>
            <a:ext cx="8048625" cy="2009775"/>
          </a:xfrm>
          <a:prstGeom prst="roundRect">
            <a:avLst>
              <a:gd name="adj" fmla="val 4550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563" y="1177603"/>
          <a:ext cx="7762875" cy="914400"/>
        </p:xfrm>
        <a:graphic>
          <a:graphicData uri="http://schemas.openxmlformats.org/drawingml/2006/table">
            <a:tbl>
              <a:tblPr/>
              <a:tblGrid>
                <a:gridCol w="3042568"/>
                <a:gridCol w="2920826"/>
                <a:gridCol w="983828"/>
                <a:gridCol w="81580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b="1" dirty="0">
                          <a:solidFill>
                            <a:srgbClr val="94A3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CAPABILITY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6198" marR="56198" marT="56198" marB="5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b="1" dirty="0">
                          <a:solidFill>
                            <a:srgbClr val="94A3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TRADITIONAL AI ASSISTANT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b="1" dirty="0">
                          <a:solidFill>
                            <a:srgbClr val="94A3B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AI AGENT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b="1" dirty="0">
                          <a:solidFill>
                            <a:srgbClr val="A78BF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HADES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Conversation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F59E0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⚡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Persistent Identity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Long-Term Memory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F59E0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⚡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F59E0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⚡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Goal Understanding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F59E0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⚡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F59E0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⚡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Human Alignment Gate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Multi-Model Orchestration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F59E0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⚡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Tool Orchestration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Background Execution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Output Validation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Human Goal Authority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10B98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✓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2E8F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Continuous Relationship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EF44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×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42900" marR="342900" marT="342900" marB="342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12"/>
                        </a:lnSpc>
                        <a:buNone/>
                      </a:pPr>
                      <a:r>
                        <a:rPr lang="en-US" sz="740" dirty="0">
                          <a:solidFill>
                            <a:srgbClr val="F59E0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⚡</a:t>
                      </a:r>
                      <a:endParaRPr lang="en-US" sz="74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926580" marR="342900" marT="342900" marB="342900" anchor="ctr">
                    <a:lnL w="9525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7688" y="3185220"/>
            <a:ext cx="8048625" cy="785813"/>
          </a:xfrm>
          <a:prstGeom prst="roundRect">
            <a:avLst>
              <a:gd name="adj" fmla="val 11636"/>
            </a:avLst>
          </a:prstGeom>
          <a:solidFill>
            <a:srgbClr val="7C3AED">
              <a:alpha val="14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95083" y="3299594"/>
            <a:ext cx="21537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/ DESIGN GAP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495508" y="3483546"/>
            <a:ext cx="81529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324"/>
              </a:spcBef>
              <a:buNone/>
            </a:pPr>
            <a:r>
              <a:rPr lang="en-US" sz="108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Persistent understanding + mutual alignment + intelligence orchestration + verified execution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2542211" y="3715271"/>
            <a:ext cx="40595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243"/>
              </a:spcBef>
              <a:buNone/>
            </a:pPr>
            <a:r>
              <a:rPr lang="en-US" sz="790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No existing system combines all four. Hades targets this gap.</a:t>
            </a:r>
            <a:endParaRPr lang="en-US" sz="790" dirty="0"/>
          </a:p>
        </p:txBody>
      </p:sp>
      <p:sp>
        <p:nvSpPr>
          <p:cNvPr id="12" name="Text 8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185425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AUTHORIZATION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859565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HADES DOESN'T START WITH A TASK.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548580" y="949747"/>
            <a:ext cx="368957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spc="89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STARTS WITH UNDERSTANDING.</a:t>
            </a:r>
            <a:endParaRPr lang="en-US" sz="112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425773" y="1766069"/>
            <a:ext cx="119062" cy="421741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155119" y="1258491"/>
            <a:ext cx="2833687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70126" y="1406128"/>
            <a:ext cx="81141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USER INTENT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5525393" y="1403747"/>
            <a:ext cx="42069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4523780" y="1723876"/>
            <a:ext cx="1824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1220" dirty="0"/>
          </a:p>
        </p:txBody>
      </p:sp>
      <p:sp>
        <p:nvSpPr>
          <p:cNvPr id="12" name="Shape 8"/>
          <p:cNvSpPr/>
          <p:nvPr/>
        </p:nvSpPr>
        <p:spPr>
          <a:xfrm>
            <a:off x="3155119" y="1993776"/>
            <a:ext cx="2833687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70126" y="2141413"/>
            <a:ext cx="93640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CONVERSATION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5077867" y="2139032"/>
            <a:ext cx="100247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✓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4523780" y="2459162"/>
            <a:ext cx="1824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3155119" y="2729061"/>
            <a:ext cx="2833687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70126" y="2876699"/>
            <a:ext cx="90825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CLARIFICATION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5077867" y="2874318"/>
            <a:ext cx="100247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✓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4523780" y="3194447"/>
            <a:ext cx="1824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1220" dirty="0"/>
          </a:p>
        </p:txBody>
      </p:sp>
      <p:sp>
        <p:nvSpPr>
          <p:cNvPr id="20" name="Shape 16"/>
          <p:cNvSpPr/>
          <p:nvPr/>
        </p:nvSpPr>
        <p:spPr>
          <a:xfrm>
            <a:off x="3155119" y="3464347"/>
            <a:ext cx="2833687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270126" y="3611984"/>
            <a:ext cx="109331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PUSHBACK / ALIGN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5077867" y="3609603"/>
            <a:ext cx="100247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✓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4523780" y="3929732"/>
            <a:ext cx="1824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122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757" y="4199632"/>
            <a:ext cx="3462337" cy="400050"/>
          </a:xfrm>
          <a:prstGeom prst="rect">
            <a:avLst/>
          </a:prstGeom>
          <a:effectLst>
            <a:outerShdw sx="100000" sy="100000" kx="0" ky="0" algn="bl" rotWithShape="0" blurRad="190500" dist="50800" dir="16200000">
              <a:srgbClr val="7C3AED">
                <a:alpha val="45000"/>
              </a:srgbClr>
            </a:outerShdw>
          </a:effectLst>
        </p:spPr>
      </p:pic>
      <p:sp>
        <p:nvSpPr>
          <p:cNvPr id="25" name="Text 20"/>
          <p:cNvSpPr/>
          <p:nvPr/>
        </p:nvSpPr>
        <p:spPr>
          <a:xfrm>
            <a:off x="3809405" y="4746873"/>
            <a:ext cx="20398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LOCKED MISSION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4523780" y="5085829"/>
            <a:ext cx="1824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1220" dirty="0"/>
          </a:p>
        </p:txBody>
      </p:sp>
      <p:sp>
        <p:nvSpPr>
          <p:cNvPr id="27" name="Shape 22"/>
          <p:cNvSpPr/>
          <p:nvPr/>
        </p:nvSpPr>
        <p:spPr>
          <a:xfrm>
            <a:off x="3155119" y="5355729"/>
            <a:ext cx="2833687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70126" y="5503366"/>
            <a:ext cx="68865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PLANNING</a:t>
            </a:r>
            <a:endParaRPr lang="en-US" sz="600" dirty="0"/>
          </a:p>
        </p:txBody>
      </p:sp>
      <p:sp>
        <p:nvSpPr>
          <p:cNvPr id="29" name="Text 24"/>
          <p:cNvSpPr/>
          <p:nvPr/>
        </p:nvSpPr>
        <p:spPr>
          <a:xfrm>
            <a:off x="5301555" y="5500985"/>
            <a:ext cx="71168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⚡</a:t>
            </a:r>
            <a:endParaRPr lang="en-US" sz="650" dirty="0"/>
          </a:p>
        </p:txBody>
      </p:sp>
      <p:sp>
        <p:nvSpPr>
          <p:cNvPr id="30" name="Text 25"/>
          <p:cNvSpPr/>
          <p:nvPr/>
        </p:nvSpPr>
        <p:spPr>
          <a:xfrm>
            <a:off x="4523780" y="5821114"/>
            <a:ext cx="1824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1220" dirty="0"/>
          </a:p>
        </p:txBody>
      </p:sp>
      <p:sp>
        <p:nvSpPr>
          <p:cNvPr id="31" name="Shape 26"/>
          <p:cNvSpPr/>
          <p:nvPr/>
        </p:nvSpPr>
        <p:spPr>
          <a:xfrm>
            <a:off x="3155119" y="6091014"/>
            <a:ext cx="2833687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270126" y="6238652"/>
            <a:ext cx="168032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08–10 EXECUTE · REVIEW · DELIVER</a:t>
            </a:r>
            <a:endParaRPr lang="en-US" sz="600" dirty="0"/>
          </a:p>
        </p:txBody>
      </p:sp>
      <p:sp>
        <p:nvSpPr>
          <p:cNvPr id="33" name="Text 28"/>
          <p:cNvSpPr/>
          <p:nvPr/>
        </p:nvSpPr>
        <p:spPr>
          <a:xfrm>
            <a:off x="5077867" y="6236271"/>
            <a:ext cx="100247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✓</a:t>
            </a:r>
            <a:endParaRPr lang="en-US" sz="650" dirty="0"/>
          </a:p>
        </p:txBody>
      </p:sp>
      <p:sp>
        <p:nvSpPr>
          <p:cNvPr id="34" name="Text 29"/>
          <p:cNvSpPr/>
          <p:nvPr/>
        </p:nvSpPr>
        <p:spPr>
          <a:xfrm>
            <a:off x="7599090" y="1410146"/>
            <a:ext cx="119062" cy="4929188"/>
          </a:xfrm>
          <a:prstGeom prst="rect">
            <a:avLst/>
          </a:prstGeom>
          <a:ln/>
        </p:spPr>
        <p:txBody>
          <a:bodyPr wrap="square" lIns="0" tIns="0" rIns="0" bIns="0" rtlCol="0" anchor="t" vert="eaVert">
            <a:spAutoFit/>
          </a:bodyPr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 LOCK: Execution Brain takes control. User controls the goal, not the process.</a:t>
            </a:r>
            <a:endParaRPr lang="en-US" sz="720" dirty="0"/>
          </a:p>
        </p:txBody>
      </p:sp>
      <p:sp>
        <p:nvSpPr>
          <p:cNvPr id="35" name="Text 30"/>
          <p:cNvSpPr/>
          <p:nvPr/>
        </p:nvSpPr>
        <p:spPr>
          <a:xfrm>
            <a:off x="1601324" y="4658320"/>
            <a:ext cx="594135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Conversation is the authorization layer between intent and action.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608880" y="4819278"/>
            <a:ext cx="592616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understanding_evaluator.py · mission.py → MissionStatus.AUTHORIZED_EXECUTION</a:t>
            </a:r>
            <a:endParaRPr lang="en-US" sz="720" dirty="0"/>
          </a:p>
        </p:txBody>
      </p:sp>
      <p:sp>
        <p:nvSpPr>
          <p:cNvPr id="37" name="Text 32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  <p:sp>
        <p:nvSpPr>
          <p:cNvPr id="38" name="Text 33"/>
          <p:cNvSpPr/>
          <p:nvPr/>
        </p:nvSpPr>
        <p:spPr>
          <a:xfrm>
            <a:off x="2955354" y="4347270"/>
            <a:ext cx="142696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MUTUAL UNDERSTANDING</a:t>
            </a:r>
            <a:endParaRPr lang="en-US" sz="600" dirty="0"/>
          </a:p>
        </p:txBody>
      </p:sp>
      <p:sp>
        <p:nvSpPr>
          <p:cNvPr id="39" name="Text 34"/>
          <p:cNvSpPr/>
          <p:nvPr/>
        </p:nvSpPr>
        <p:spPr>
          <a:xfrm>
            <a:off x="5392564" y="4344888"/>
            <a:ext cx="100247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✓</a:t>
            </a:r>
            <a:endParaRPr lang="en-US" sz="650" dirty="0"/>
          </a:p>
        </p:txBody>
      </p:sp>
      <p:sp>
        <p:nvSpPr>
          <p:cNvPr id="40" name="Shape 35"/>
          <p:cNvSpPr/>
          <p:nvPr/>
        </p:nvSpPr>
        <p:spPr>
          <a:xfrm>
            <a:off x="2840757" y="4199632"/>
            <a:ext cx="3462337" cy="400050"/>
          </a:xfrm>
          <a:prstGeom prst="roundRect">
            <a:avLst>
              <a:gd name="adj" fmla="val 22857"/>
            </a:avLst>
          </a:prstGeom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6119" y="4649688"/>
            <a:ext cx="2071688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185425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SYSTEM DESIGN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341396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PARTNER.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548580" y="949747"/>
            <a:ext cx="44411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spc="89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MULTIPLE BRAINS. MANY CAPABILITIES.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547688" y="1259012"/>
            <a:ext cx="8048625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3029" y="1378074"/>
            <a:ext cx="30131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63029" y="1487612"/>
            <a:ext cx="206495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Goal · Context · Decisions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7448104" y="1404268"/>
            <a:ext cx="1033462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17457" y="1435224"/>
            <a:ext cx="122033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 IN CONTROL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547688" y="1762348"/>
            <a:ext cx="8048625" cy="461962"/>
          </a:xfrm>
          <a:prstGeom prst="roundRect">
            <a:avLst>
              <a:gd name="adj" fmla="val 19794"/>
            </a:avLst>
          </a:prstGeom>
          <a:solidFill>
            <a:srgbClr val="7C3AED">
              <a:alpha val="15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3029" y="1881411"/>
            <a:ext cx="7868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PARTNER BRAIN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63029" y="1990948"/>
            <a:ext cx="716141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Intent Classification | Mission Extraction | Conversational Alignment | Session Memory</a:t>
            </a:r>
            <a:endParaRPr lang="en-US" sz="720" dirty="0"/>
          </a:p>
        </p:txBody>
      </p:sp>
      <p:sp>
        <p:nvSpPr>
          <p:cNvPr id="15" name="Shape 12"/>
          <p:cNvSpPr/>
          <p:nvPr/>
        </p:nvSpPr>
        <p:spPr>
          <a:xfrm>
            <a:off x="7615237" y="1907604"/>
            <a:ext cx="866775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5038" y="1938561"/>
            <a:ext cx="100247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✓</a:t>
            </a:r>
            <a:endParaRPr lang="en-US" sz="6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8" y="2266429"/>
            <a:ext cx="8048625" cy="271463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7688" y="2580010"/>
            <a:ext cx="8048625" cy="581025"/>
          </a:xfrm>
          <a:prstGeom prst="roundRect">
            <a:avLst>
              <a:gd name="adj" fmla="val 15738"/>
            </a:avLst>
          </a:prstGeom>
          <a:solidFill>
            <a:srgbClr val="7C3AED">
              <a:alpha val="10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3029" y="2699072"/>
            <a:ext cx="87052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BRAIN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663029" y="2808610"/>
            <a:ext cx="414985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 Graph | Worker Delegation | Recovery / Retry</a:t>
            </a:r>
            <a:endParaRPr lang="en-US" sz="720" dirty="0"/>
          </a:p>
        </p:txBody>
      </p:sp>
      <p:sp>
        <p:nvSpPr>
          <p:cNvPr id="21" name="Text 17"/>
          <p:cNvSpPr/>
          <p:nvPr/>
        </p:nvSpPr>
        <p:spPr>
          <a:xfrm>
            <a:off x="663029" y="2927672"/>
            <a:ext cx="553979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Currently generates 1 task; dynamic decomposition is a future milestone</a:t>
            </a:r>
            <a:endParaRPr lang="en-US" sz="720" dirty="0"/>
          </a:p>
        </p:txBody>
      </p:sp>
      <p:sp>
        <p:nvSpPr>
          <p:cNvPr id="22" name="Shape 18"/>
          <p:cNvSpPr/>
          <p:nvPr/>
        </p:nvSpPr>
        <p:spPr>
          <a:xfrm>
            <a:off x="7839001" y="2784797"/>
            <a:ext cx="642938" cy="171450"/>
          </a:xfrm>
          <a:prstGeom prst="roundRect">
            <a:avLst>
              <a:gd name="adj" fmla="val 18667"/>
            </a:avLst>
          </a:prstGeom>
          <a:solidFill>
            <a:srgbClr val="F59E0B">
              <a:alpha val="13000"/>
            </a:srgbClr>
          </a:solidFill>
          <a:ln w="4763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908727" y="2815754"/>
            <a:ext cx="71168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⚡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547688" y="3202409"/>
            <a:ext cx="8048625" cy="581025"/>
          </a:xfrm>
          <a:prstGeom prst="roundRect">
            <a:avLst>
              <a:gd name="adj" fmla="val 15738"/>
            </a:avLst>
          </a:prstGeom>
          <a:solidFill>
            <a:srgbClr val="10B981">
              <a:alpha val="5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3029" y="3321472"/>
            <a:ext cx="51462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WORKERS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663029" y="3431009"/>
            <a:ext cx="507651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Terminal | Filesystem | Process Manager | Browser (partial)</a:t>
            </a:r>
            <a:endParaRPr lang="en-US" sz="720" dirty="0"/>
          </a:p>
        </p:txBody>
      </p:sp>
      <p:sp>
        <p:nvSpPr>
          <p:cNvPr id="27" name="Text 23"/>
          <p:cNvSpPr/>
          <p:nvPr/>
        </p:nvSpPr>
        <p:spPr>
          <a:xfrm>
            <a:off x="663029" y="3550072"/>
            <a:ext cx="438154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endpoints today; autonomous worker agents = future</a:t>
            </a:r>
            <a:endParaRPr lang="en-US" sz="720" dirty="0"/>
          </a:p>
        </p:txBody>
      </p:sp>
      <p:sp>
        <p:nvSpPr>
          <p:cNvPr id="28" name="Shape 24"/>
          <p:cNvSpPr/>
          <p:nvPr/>
        </p:nvSpPr>
        <p:spPr>
          <a:xfrm>
            <a:off x="7839001" y="3407197"/>
            <a:ext cx="642938" cy="171450"/>
          </a:xfrm>
          <a:prstGeom prst="roundRect">
            <a:avLst>
              <a:gd name="adj" fmla="val 18667"/>
            </a:avLst>
          </a:prstGeom>
          <a:solidFill>
            <a:srgbClr val="F59E0B">
              <a:alpha val="13000"/>
            </a:srgbClr>
          </a:solidFill>
          <a:ln w="4763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908727" y="3438153"/>
            <a:ext cx="71168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⚡</a:t>
            </a:r>
            <a:endParaRPr lang="en-US" sz="650" dirty="0"/>
          </a:p>
        </p:txBody>
      </p:sp>
      <p:sp>
        <p:nvSpPr>
          <p:cNvPr id="30" name="Shape 26"/>
          <p:cNvSpPr/>
          <p:nvPr/>
        </p:nvSpPr>
        <p:spPr>
          <a:xfrm>
            <a:off x="547688" y="3824808"/>
            <a:ext cx="8048625" cy="461962"/>
          </a:xfrm>
          <a:prstGeom prst="roundRect">
            <a:avLst>
              <a:gd name="adj" fmla="val 19794"/>
            </a:avLst>
          </a:prstGeom>
          <a:solidFill>
            <a:srgbClr val="10B981">
              <a:alpha val="5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3029" y="3943871"/>
            <a:ext cx="92498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PROVIDERS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663029" y="4053408"/>
            <a:ext cx="546259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Gemini (Google) | Llama 3.3 (Groq) | OpenRouter | Ollama (Local)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7615237" y="3970065"/>
            <a:ext cx="866775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685038" y="4001021"/>
            <a:ext cx="100247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✓</a:t>
            </a:r>
            <a:endParaRPr lang="en-US" sz="650" dirty="0"/>
          </a:p>
        </p:txBody>
      </p:sp>
      <p:sp>
        <p:nvSpPr>
          <p:cNvPr id="35" name="Shape 31"/>
          <p:cNvSpPr/>
          <p:nvPr/>
        </p:nvSpPr>
        <p:spPr>
          <a:xfrm>
            <a:off x="547688" y="4328145"/>
            <a:ext cx="8048625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3029" y="4447208"/>
            <a:ext cx="76469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 ENGINE</a:t>
            </a:r>
            <a:endParaRPr lang="en-US" sz="600" dirty="0"/>
          </a:p>
        </p:txBody>
      </p:sp>
      <p:sp>
        <p:nvSpPr>
          <p:cNvPr id="37" name="Text 33"/>
          <p:cNvSpPr/>
          <p:nvPr/>
        </p:nvSpPr>
        <p:spPr>
          <a:xfrm>
            <a:off x="663029" y="4556745"/>
            <a:ext cx="461313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Code Validation | Artifact Check | Semantic Review</a:t>
            </a:r>
            <a:endParaRPr lang="en-US" sz="720" dirty="0"/>
          </a:p>
        </p:txBody>
      </p:sp>
      <p:sp>
        <p:nvSpPr>
          <p:cNvPr id="38" name="Shape 34"/>
          <p:cNvSpPr/>
          <p:nvPr/>
        </p:nvSpPr>
        <p:spPr>
          <a:xfrm>
            <a:off x="7615237" y="4473401"/>
            <a:ext cx="866775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685038" y="4504358"/>
            <a:ext cx="100247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✓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547688" y="4831482"/>
            <a:ext cx="8048625" cy="581025"/>
          </a:xfrm>
          <a:prstGeom prst="roundRect">
            <a:avLst>
              <a:gd name="adj" fmla="val 15738"/>
            </a:avLst>
          </a:prstGeom>
          <a:solidFill>
            <a:srgbClr val="F59E0B">
              <a:alpha val="5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63029" y="4950544"/>
            <a:ext cx="47641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MEMORY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663029" y="5060082"/>
            <a:ext cx="360928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(in-memory) | Mission History (JSON)</a:t>
            </a:r>
            <a:endParaRPr lang="en-US" sz="720" dirty="0"/>
          </a:p>
        </p:txBody>
      </p:sp>
      <p:sp>
        <p:nvSpPr>
          <p:cNvPr id="43" name="Text 39"/>
          <p:cNvSpPr/>
          <p:nvPr/>
        </p:nvSpPr>
        <p:spPr>
          <a:xfrm>
            <a:off x="663029" y="5179144"/>
            <a:ext cx="299160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Vector / RAG memory = future milestone</a:t>
            </a:r>
            <a:endParaRPr lang="en-US" sz="720" dirty="0"/>
          </a:p>
        </p:txBody>
      </p:sp>
      <p:sp>
        <p:nvSpPr>
          <p:cNvPr id="44" name="Shape 40"/>
          <p:cNvSpPr/>
          <p:nvPr/>
        </p:nvSpPr>
        <p:spPr>
          <a:xfrm>
            <a:off x="7839001" y="5036269"/>
            <a:ext cx="642938" cy="171450"/>
          </a:xfrm>
          <a:prstGeom prst="roundRect">
            <a:avLst>
              <a:gd name="adj" fmla="val 18667"/>
            </a:avLst>
          </a:prstGeom>
          <a:solidFill>
            <a:srgbClr val="F59E0B">
              <a:alpha val="13000"/>
            </a:srgbClr>
          </a:solidFill>
          <a:ln w="4763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908727" y="5067226"/>
            <a:ext cx="71168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⚡</a:t>
            </a:r>
            <a:endParaRPr lang="en-US" sz="650" dirty="0"/>
          </a:p>
        </p:txBody>
      </p:sp>
      <p:sp>
        <p:nvSpPr>
          <p:cNvPr id="46" name="Text 42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  <p:sp>
        <p:nvSpPr>
          <p:cNvPr id="47" name="Text 43"/>
          <p:cNvSpPr/>
          <p:nvPr/>
        </p:nvSpPr>
        <p:spPr>
          <a:xfrm>
            <a:off x="658267" y="2349773"/>
            <a:ext cx="24296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LOCKED MISSION — MUTUAL UNDERSTANDING GATE</a:t>
            </a:r>
            <a:endParaRPr lang="en-US" sz="600" dirty="0"/>
          </a:p>
        </p:txBody>
      </p:sp>
      <p:sp>
        <p:nvSpPr>
          <p:cNvPr id="48" name="Text 44"/>
          <p:cNvSpPr/>
          <p:nvPr/>
        </p:nvSpPr>
        <p:spPr>
          <a:xfrm>
            <a:off x="7689800" y="2347392"/>
            <a:ext cx="100247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✓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20539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THE ABSTRACTION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662152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HADES THINKS IN MISSIONS.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548580" y="949747"/>
            <a:ext cx="45663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spc="89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PROMPTS. NOT SESSIONS. NOT TABS.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547650" y="1259793"/>
            <a:ext cx="3933825" cy="2466975"/>
          </a:xfrm>
          <a:prstGeom prst="roundRect">
            <a:avLst>
              <a:gd name="adj" fmla="val 370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3029" y="1373312"/>
            <a:ext cx="23333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82" kern="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TRADITIONAL AI · PROMPT LOOP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1177677" y="1883197"/>
            <a:ext cx="34233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1552649" y="1863105"/>
            <a:ext cx="93969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Prompt →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2387129" y="1883197"/>
            <a:ext cx="199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2652415" y="1863105"/>
            <a:ext cx="112843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Response →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3632076" y="1883197"/>
            <a:ext cx="34233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731788" y="2273945"/>
            <a:ext cx="1002283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CONTEXT: NONE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674739" y="2273945"/>
            <a:ext cx="129298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STATE: DISPOSABLE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731788" y="2627188"/>
            <a:ext cx="92953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MEMORY: ZERO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2674739" y="2627188"/>
            <a:ext cx="122033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CONTINUITY: NONE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970341" y="2977604"/>
            <a:ext cx="308844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1620"/>
              </a:spcBef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message starts from scratch.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2488" y="1259793"/>
            <a:ext cx="3933825" cy="2466975"/>
          </a:xfrm>
          <a:prstGeom prst="roundRect">
            <a:avLst>
              <a:gd name="adj" fmla="val 370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77829" y="1373312"/>
            <a:ext cx="16829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82" kern="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MISSION STATE OBJECT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4777829" y="1604739"/>
            <a:ext cx="319379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objective:</a:t>
            </a:r>
            <a:pPr algn="l" indent="0" marL="0">
              <a:buNone/>
            </a:pPr>
            <a:r>
              <a:rPr lang="en-US" sz="79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“Build a project scaffold...”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4777829" y="1770683"/>
            <a:ext cx="350751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desired_outcome:</a:t>
            </a:r>
            <a:pPr algn="l" indent="0" marL="0">
              <a:buNone/>
            </a:pPr>
            <a:r>
              <a:rPr lang="en-US" sz="79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“Working directory with...”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4777829" y="1936626"/>
            <a:ext cx="30370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constraints:</a:t>
            </a:r>
            <a:pPr algn="l" indent="0" marL="0">
              <a:buNone/>
            </a:pPr>
            <a:r>
              <a:rPr lang="en-US" sz="79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[“No external deps”, ...]</a:t>
            </a:r>
            <a:endParaRPr lang="en-US" sz="790" dirty="0"/>
          </a:p>
        </p:txBody>
      </p:sp>
      <p:sp>
        <p:nvSpPr>
          <p:cNvPr id="24" name="Text 21"/>
          <p:cNvSpPr/>
          <p:nvPr/>
        </p:nvSpPr>
        <p:spPr>
          <a:xfrm>
            <a:off x="4777829" y="2102569"/>
            <a:ext cx="382123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success_criteria:</a:t>
            </a:r>
            <a:pPr algn="l" indent="0" marL="0">
              <a:buNone/>
            </a:pPr>
            <a:r>
              <a:rPr lang="en-US" sz="79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“Directory exists, tests pass”</a:t>
            </a:r>
            <a:endParaRPr lang="en-US" sz="790" dirty="0"/>
          </a:p>
        </p:txBody>
      </p:sp>
      <p:sp>
        <p:nvSpPr>
          <p:cNvPr id="25" name="Text 22"/>
          <p:cNvSpPr/>
          <p:nvPr/>
        </p:nvSpPr>
        <p:spPr>
          <a:xfrm>
            <a:off x="4777829" y="2268513"/>
            <a:ext cx="186083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status:</a:t>
            </a:r>
            <a:pPr algn="l" indent="0" marL="0">
              <a:buNone/>
            </a:pPr>
            <a:r>
              <a:rPr lang="en-US" sz="79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BACKGROUND_WORK</a:t>
            </a:r>
            <a:endParaRPr lang="en-US" sz="790" dirty="0"/>
          </a:p>
        </p:txBody>
      </p:sp>
      <p:sp>
        <p:nvSpPr>
          <p:cNvPr id="26" name="Text 23"/>
          <p:cNvSpPr/>
          <p:nvPr/>
        </p:nvSpPr>
        <p:spPr>
          <a:xfrm>
            <a:off x="4777829" y="2434456"/>
            <a:ext cx="209600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mutual_understanding:</a:t>
            </a:r>
            <a:pPr algn="l" indent="0" marL="0">
              <a:buNone/>
            </a:pPr>
            <a:r>
              <a:rPr lang="en-US" sz="79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true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4777829" y="2600399"/>
            <a:ext cx="280180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conversation_history:</a:t>
            </a:r>
            <a:pPr algn="l" indent="0" marL="0">
              <a:buNone/>
            </a:pPr>
            <a:r>
              <a:rPr lang="en-US" sz="79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[14 messages]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4777829" y="2766343"/>
            <a:ext cx="186083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mission_id:</a:t>
            </a:r>
            <a:pPr algn="l" indent="0" marL="0">
              <a:buNone/>
            </a:pPr>
            <a:r>
              <a:rPr lang="en-US" sz="79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“m_8f3a...”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4777829" y="2932286"/>
            <a:ext cx="311553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output_artifacts:</a:t>
            </a:r>
            <a:pPr algn="l" indent="0" marL="0">
              <a:buNone/>
            </a:pPr>
            <a:r>
              <a:rPr lang="en-US" sz="79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[“scaffold.zip”, ...]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4777829" y="3083942"/>
            <a:ext cx="167877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src/models/mission.py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2474193" y="3917528"/>
            <a:ext cx="9125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CONVERSATION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3287762" y="3924672"/>
            <a:ext cx="14015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3507209" y="3917528"/>
            <a:ext cx="14826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AUTHORIZED_EXECUTION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4759375" y="3924672"/>
            <a:ext cx="14015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4978822" y="3917528"/>
            <a:ext cx="112630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BACKGROUND_WORK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5956846" y="3924672"/>
            <a:ext cx="14015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176293" y="3917528"/>
            <a:ext cx="69871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COMPLETED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2248644" y="4256856"/>
            <a:ext cx="2456163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MISSION ABSTRACTION — IMPLEMENTED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4322936" y="4256856"/>
            <a:ext cx="3401199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DYNAMIC MULTI-STEP PLANNING — FUTURE MILESTONE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17544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INTELLIGENCE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4789974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HADES MANAGES AI.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548580" y="949747"/>
            <a:ext cx="218655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spc="89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USER DOESN'T.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548580" y="1363191"/>
            <a:ext cx="2286000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3029" y="1482254"/>
            <a:ext cx="8762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2.5 FLASH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63029" y="1591791"/>
            <a:ext cx="229654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google · conversational, fast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548580" y="1876871"/>
            <a:ext cx="2286000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3029" y="1995934"/>
            <a:ext cx="106777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FLASH LATEST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63029" y="2105471"/>
            <a:ext cx="214215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google · research, analysis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548580" y="2390552"/>
            <a:ext cx="2286000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3029" y="2509614"/>
            <a:ext cx="76111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LLAMA 3.3 70B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63029" y="2619152"/>
            <a:ext cx="191046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groq · fast, open-source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548580" y="2904232"/>
            <a:ext cx="2286000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3029" y="3023295"/>
            <a:ext cx="7645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OLLAMA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663029" y="3132832"/>
            <a:ext cx="268272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 · private, offline · partial</a:t>
            </a:r>
            <a:endParaRPr lang="en-US" sz="72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3851895" y="1533674"/>
            <a:ext cx="1440135" cy="144013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67026" y="3076649"/>
            <a:ext cx="13699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worker_manager.py</a:t>
            </a:r>
            <a:endParaRPr lang="en-US" sz="720" dirty="0"/>
          </a:p>
        </p:txBody>
      </p:sp>
      <p:sp>
        <p:nvSpPr>
          <p:cNvPr id="21" name="Shape 17"/>
          <p:cNvSpPr/>
          <p:nvPr/>
        </p:nvSpPr>
        <p:spPr>
          <a:xfrm>
            <a:off x="6309382" y="1403970"/>
            <a:ext cx="2286000" cy="342900"/>
          </a:xfrm>
          <a:prstGeom prst="roundRect">
            <a:avLst>
              <a:gd name="adj" fmla="val 2666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23794" y="1523033"/>
            <a:ext cx="134318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pPr algn="l" indent="0" marL="0">
              <a:spcAft>
                <a:spcPts val="405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Conversational response</a:t>
            </a:r>
            <a:endParaRPr lang="en-US" sz="600" dirty="0"/>
          </a:p>
        </p:txBody>
      </p:sp>
      <p:sp>
        <p:nvSpPr>
          <p:cNvPr id="23" name="Shape 19"/>
          <p:cNvSpPr/>
          <p:nvPr/>
        </p:nvSpPr>
        <p:spPr>
          <a:xfrm>
            <a:off x="6309382" y="1798588"/>
            <a:ext cx="2286000" cy="342900"/>
          </a:xfrm>
          <a:prstGeom prst="roundRect">
            <a:avLst>
              <a:gd name="adj" fmla="val 2666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23794" y="1917650"/>
            <a:ext cx="10518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pPr algn="l" indent="0" marL="0">
              <a:spcAft>
                <a:spcPts val="405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Mission extraction</a:t>
            </a:r>
            <a:endParaRPr lang="en-US" sz="600" dirty="0"/>
          </a:p>
        </p:txBody>
      </p:sp>
      <p:sp>
        <p:nvSpPr>
          <p:cNvPr id="25" name="Shape 21"/>
          <p:cNvSpPr/>
          <p:nvPr/>
        </p:nvSpPr>
        <p:spPr>
          <a:xfrm>
            <a:off x="6309382" y="2193206"/>
            <a:ext cx="2286000" cy="342900"/>
          </a:xfrm>
          <a:prstGeom prst="roundRect">
            <a:avLst>
              <a:gd name="adj" fmla="val 2666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23794" y="2312268"/>
            <a:ext cx="119063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pPr algn="l" indent="0" marL="0">
              <a:spcAft>
                <a:spcPts val="405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Command generation</a:t>
            </a:r>
            <a:endParaRPr lang="en-US" sz="600" dirty="0"/>
          </a:p>
        </p:txBody>
      </p:sp>
      <p:sp>
        <p:nvSpPr>
          <p:cNvPr id="27" name="Shape 23"/>
          <p:cNvSpPr/>
          <p:nvPr/>
        </p:nvSpPr>
        <p:spPr>
          <a:xfrm>
            <a:off x="6309382" y="2587823"/>
            <a:ext cx="2286000" cy="342900"/>
          </a:xfrm>
          <a:prstGeom prst="roundRect">
            <a:avLst>
              <a:gd name="adj" fmla="val 2666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23794" y="2706886"/>
            <a:ext cx="105374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pPr algn="l" indent="0" marL="0">
              <a:spcAft>
                <a:spcPts val="405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Review / validation</a:t>
            </a:r>
            <a:endParaRPr lang="en-US" sz="600" dirty="0"/>
          </a:p>
        </p:txBody>
      </p:sp>
      <p:sp>
        <p:nvSpPr>
          <p:cNvPr id="29" name="Shape 25"/>
          <p:cNvSpPr/>
          <p:nvPr/>
        </p:nvSpPr>
        <p:spPr>
          <a:xfrm>
            <a:off x="6309382" y="2982441"/>
            <a:ext cx="2286000" cy="342900"/>
          </a:xfrm>
          <a:prstGeom prst="roundRect">
            <a:avLst>
              <a:gd name="adj" fmla="val 2666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423794" y="3101504"/>
            <a:ext cx="148017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Future: specialized analysis</a:t>
            </a:r>
            <a:endParaRPr lang="en-US" sz="600" dirty="0"/>
          </a:p>
        </p:txBody>
      </p:sp>
      <p:sp>
        <p:nvSpPr>
          <p:cNvPr id="31" name="Shape 27"/>
          <p:cNvSpPr/>
          <p:nvPr/>
        </p:nvSpPr>
        <p:spPr>
          <a:xfrm>
            <a:off x="548208" y="3624449"/>
            <a:ext cx="2609850" cy="647700"/>
          </a:xfrm>
          <a:prstGeom prst="roundRect">
            <a:avLst>
              <a:gd name="adj" fmla="val 14118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63029" y="3739232"/>
            <a:ext cx="17544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INVISIBLE TO USER</a:t>
            </a:r>
            <a:endParaRPr lang="en-US" sz="760" dirty="0"/>
          </a:p>
        </p:txBody>
      </p:sp>
      <p:sp>
        <p:nvSpPr>
          <p:cNvPr id="33" name="Text 29"/>
          <p:cNvSpPr/>
          <p:nvPr/>
        </p:nvSpPr>
        <p:spPr>
          <a:xfrm>
            <a:off x="663029" y="3919240"/>
            <a:ext cx="299160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Users express goals. Hades selects the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right model internally.</a:t>
            </a:r>
            <a:endParaRPr lang="en-US" sz="720" dirty="0"/>
          </a:p>
        </p:txBody>
      </p:sp>
      <p:sp>
        <p:nvSpPr>
          <p:cNvPr id="34" name="Shape 30"/>
          <p:cNvSpPr/>
          <p:nvPr/>
        </p:nvSpPr>
        <p:spPr>
          <a:xfrm>
            <a:off x="3267038" y="3624449"/>
            <a:ext cx="2609850" cy="647700"/>
          </a:xfrm>
          <a:prstGeom prst="roundRect">
            <a:avLst>
              <a:gd name="adj" fmla="val 14118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81821" y="3739232"/>
            <a:ext cx="17544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PROVIDER FALLBACK</a:t>
            </a:r>
            <a:endParaRPr lang="en-US" sz="760" dirty="0"/>
          </a:p>
        </p:txBody>
      </p:sp>
      <p:sp>
        <p:nvSpPr>
          <p:cNvPr id="36" name="Text 32"/>
          <p:cNvSpPr/>
          <p:nvPr/>
        </p:nvSpPr>
        <p:spPr>
          <a:xfrm>
            <a:off x="3381821" y="3919240"/>
            <a:ext cx="291431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 primary fails, WorkerManager tries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next configured provider.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5985904" y="3624449"/>
            <a:ext cx="2609850" cy="647700"/>
          </a:xfrm>
          <a:prstGeom prst="roundRect">
            <a:avLst>
              <a:gd name="adj" fmla="val 14118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100688" y="3739232"/>
            <a:ext cx="11554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REPLACEABLE</a:t>
            </a:r>
            <a:endParaRPr lang="en-US" sz="760" dirty="0"/>
          </a:p>
        </p:txBody>
      </p:sp>
      <p:sp>
        <p:nvSpPr>
          <p:cNvPr id="39" name="Text 35"/>
          <p:cNvSpPr/>
          <p:nvPr/>
        </p:nvSpPr>
        <p:spPr>
          <a:xfrm>
            <a:off x="6100688" y="3919240"/>
            <a:ext cx="283711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Any provider can be added or removed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config.json.</a:t>
            </a:r>
            <a:endParaRPr lang="en-US" sz="720" dirty="0"/>
          </a:p>
        </p:txBody>
      </p:sp>
      <p:sp>
        <p:nvSpPr>
          <p:cNvPr id="40" name="Shape 36"/>
          <p:cNvSpPr/>
          <p:nvPr/>
        </p:nvSpPr>
        <p:spPr>
          <a:xfrm>
            <a:off x="547688" y="4374803"/>
            <a:ext cx="8048625" cy="342900"/>
          </a:xfrm>
          <a:prstGeom prst="roundRect">
            <a:avLst>
              <a:gd name="adj" fmla="val 2666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63029" y="4493865"/>
            <a:ext cx="739426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CURRENT REALITY:</a:t>
            </a:r>
            <a:pPr algn="l" indent="0" marL="0">
              <a:spcBef>
                <a:spcPts val="81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Workers are model endpoints routed by LiteLLM. Autonomous specialized worker agents with independent loops — </a:t>
            </a:r>
            <a:pPr algn="l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MILESTONE.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165458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RELIABILITY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834655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DOESN'T GET TO DECLARE ITSELF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548580" y="815504"/>
            <a:ext cx="324661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SUCCESSFUL.</a:t>
            </a:r>
            <a:endParaRPr lang="en-US" sz="2880" dirty="0"/>
          </a:p>
        </p:txBody>
      </p:sp>
      <p:sp>
        <p:nvSpPr>
          <p:cNvPr id="7" name="Text 4"/>
          <p:cNvSpPr/>
          <p:nvPr/>
        </p:nvSpPr>
        <p:spPr>
          <a:xfrm>
            <a:off x="548580" y="1308125"/>
            <a:ext cx="293840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spc="89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GENERATION ≠ COMPLETION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2516200" y="1617092"/>
            <a:ext cx="876300" cy="190500"/>
          </a:xfrm>
          <a:prstGeom prst="roundRect">
            <a:avLst>
              <a:gd name="adj" fmla="val 50000"/>
            </a:avLst>
          </a:prstGeom>
          <a:ln w="4763">
            <a:solidFill>
              <a:srgbClr val="A78B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97944" y="1652811"/>
            <a:ext cx="98380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 OUTPUT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2930723" y="1863626"/>
            <a:ext cx="1185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1270806" y="2024732"/>
            <a:ext cx="3367088" cy="581025"/>
          </a:xfrm>
          <a:prstGeom prst="roundRect">
            <a:avLst>
              <a:gd name="adj" fmla="val 15738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A78B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4771" y="2143795"/>
            <a:ext cx="128359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STAGE 1: EXIT CODE CHECK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1384771" y="2253332"/>
            <a:ext cx="129269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exit_code == 0 ?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1384771" y="2372395"/>
            <a:ext cx="129269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review_engine.py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2834432" y="2662089"/>
            <a:ext cx="368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 pass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1270806" y="2823195"/>
            <a:ext cx="3367088" cy="581025"/>
          </a:xfrm>
          <a:prstGeom prst="roundRect">
            <a:avLst>
              <a:gd name="adj" fmla="val 15738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A78B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84771" y="2942258"/>
            <a:ext cx="12588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STAGE 2: ARTIFACT CHECK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1384771" y="3051795"/>
            <a:ext cx="175606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Does output.txt exist?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1384771" y="3170858"/>
            <a:ext cx="191046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File paths from criteria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2834432" y="3460552"/>
            <a:ext cx="36884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 pass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1270806" y="3621658"/>
            <a:ext cx="3367088" cy="581025"/>
          </a:xfrm>
          <a:prstGeom prst="roundRect">
            <a:avLst>
              <a:gd name="adj" fmla="val 15738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A78B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84771" y="3740721"/>
            <a:ext cx="130555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STAGE 3: HEURISTIC CHECK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1384771" y="3850258"/>
            <a:ext cx="221934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 matches expectations?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384771" y="3969321"/>
            <a:ext cx="183326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Sanity validation layer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2717602" y="4259014"/>
            <a:ext cx="67259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 ambiguous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1270806" y="4420121"/>
            <a:ext cx="3367088" cy="461962"/>
          </a:xfrm>
          <a:prstGeom prst="roundRect">
            <a:avLst>
              <a:gd name="adj" fmla="val 1979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84771" y="4539183"/>
            <a:ext cx="134599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STAGE 4: SEMANTIC REVIEW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1384771" y="4648721"/>
            <a:ext cx="314600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 validates output vs success_criteria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1756990" y="4985668"/>
            <a:ext cx="1119188" cy="552450"/>
          </a:xfrm>
          <a:prstGeom prst="roundRect">
            <a:avLst>
              <a:gd name="adj" fmla="val 16552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976620" y="5113809"/>
            <a:ext cx="6798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PASS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1708837" y="5305202"/>
            <a:ext cx="121549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 TO USER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3151361" y="4985668"/>
            <a:ext cx="1000125" cy="552450"/>
          </a:xfrm>
          <a:prstGeom prst="roundRect">
            <a:avLst>
              <a:gd name="adj" fmla="val 16552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56984" y="5113809"/>
            <a:ext cx="7888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↻ RETRY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3120874" y="5305202"/>
            <a:ext cx="106110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RE-PROMPT LLM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633777" y="2454883"/>
            <a:ext cx="2962275" cy="1071563"/>
          </a:xfrm>
          <a:prstGeom prst="roundRect">
            <a:avLst>
              <a:gd name="adj" fmla="val 8533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48858" y="2569220"/>
            <a:ext cx="165458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THIS MATTERS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5748858" y="2753990"/>
            <a:ext cx="3445021" cy="64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LLMs generate plausible output, not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guaranteed correct output. The Review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 is the difference between an AI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assistant and a reliable AI system.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633777" y="3629509"/>
            <a:ext cx="2962275" cy="1071563"/>
          </a:xfrm>
          <a:prstGeom prst="roundRect">
            <a:avLst>
              <a:gd name="adj" fmla="val 8533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748858" y="3743846"/>
            <a:ext cx="15547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RETRY MECHANISM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5748858" y="3928616"/>
            <a:ext cx="3445021" cy="64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 RETRY: the failed output + error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message are fed back to the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ExecutionBrain as context. Max retries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enforced.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-110739" y="5026149"/>
            <a:ext cx="936540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810"/>
              </a:spcBef>
              <a:buNone/>
            </a:pPr>
            <a:r>
              <a:rPr lang="en-US" sz="119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worker delivers a result. The Review Engine determines if the </a:t>
            </a:r>
            <a:pPr algn="ctr" indent="0" marL="0">
              <a:buNone/>
            </a:pPr>
            <a:r>
              <a:rPr lang="en-US" sz="119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MISSION</a:t>
            </a:r>
            <a:pPr algn="ctr" indent="0" marL="0">
              <a:spcBef>
                <a:spcPts val="810"/>
              </a:spcBef>
              <a:buNone/>
            </a:pPr>
            <a:r>
              <a:rPr lang="en-US" sz="119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was actually completed.</a:t>
            </a:r>
            <a:endParaRPr lang="en-US" sz="1190" dirty="0"/>
          </a:p>
        </p:txBody>
      </p:sp>
      <p:sp>
        <p:nvSpPr>
          <p:cNvPr id="42" name="Text 39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245335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THE CONTROL SURFACE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919379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INTERFACE IS A CONTROL SURFACE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548580" y="949747"/>
            <a:ext cx="268756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spc="89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A LIVING MISSION.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547650" y="1259979"/>
            <a:ext cx="3933825" cy="4762500"/>
          </a:xfrm>
          <a:prstGeom prst="roundRect">
            <a:avLst>
              <a:gd name="adj" fmla="val 232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3029" y="1373312"/>
            <a:ext cx="29023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82" kern="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REQUEST / RESPONSE FLOW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1219126" y="1590601"/>
            <a:ext cx="2590800" cy="357188"/>
          </a:xfrm>
          <a:prstGeom prst="roundRect">
            <a:avLst>
              <a:gd name="adj" fmla="val 25600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32905" y="1704901"/>
            <a:ext cx="188473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VOICE INPUT </a:t>
            </a:r>
            <a:pPr algn="l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Web Speech API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490936" y="1993776"/>
            <a:ext cx="1185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1219126" y="2144018"/>
            <a:ext cx="2590800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32905" y="2298799"/>
            <a:ext cx="7813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/ VITE UI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1958727" y="2289274"/>
            <a:ext cx="8568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490936" y="2589535"/>
            <a:ext cx="1185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2047801" y="2740000"/>
            <a:ext cx="933450" cy="190500"/>
          </a:xfrm>
          <a:prstGeom prst="roundRect">
            <a:avLst>
              <a:gd name="adj" fmla="val 50000"/>
            </a:avLst>
          </a:prstGeom>
          <a:ln w="4763">
            <a:solidFill>
              <a:srgbClr val="94A3B8">
                <a:alpha val="3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30698" y="2775719"/>
            <a:ext cx="105510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 /api/chat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2490936" y="2976190"/>
            <a:ext cx="1185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1219126" y="3126432"/>
            <a:ext cx="2590800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32905" y="3281214"/>
            <a:ext cx="91173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FASTAPI BACKEND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2059037" y="3271689"/>
            <a:ext cx="8568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2490936" y="3571949"/>
            <a:ext cx="1185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1219126" y="3722191"/>
            <a:ext cx="2590800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32905" y="3876973"/>
            <a:ext cx="8085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PARTNER BRAIN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979637" y="3867448"/>
            <a:ext cx="8568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2490936" y="4167708"/>
            <a:ext cx="1185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1219126" y="4317950"/>
            <a:ext cx="2590800" cy="400050"/>
          </a:xfrm>
          <a:prstGeom prst="roundRect">
            <a:avLst>
              <a:gd name="adj" fmla="val 22857"/>
            </a:avLst>
          </a:prstGeom>
          <a:solidFill>
            <a:srgbClr val="7C3AED">
              <a:alpha val="20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32905" y="4472732"/>
            <a:ext cx="7380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MISSION LOCK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1925464" y="4463207"/>
            <a:ext cx="8568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2490936" y="4763467"/>
            <a:ext cx="1185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1219126" y="4913709"/>
            <a:ext cx="2590800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32905" y="5068491"/>
            <a:ext cx="90718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EXECUTION BRAIN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2055540" y="5058966"/>
            <a:ext cx="566090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2490936" y="5359226"/>
            <a:ext cx="11857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1219126" y="5509468"/>
            <a:ext cx="2590800" cy="400050"/>
          </a:xfrm>
          <a:prstGeom prst="roundRect">
            <a:avLst>
              <a:gd name="adj" fmla="val 2285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332905" y="5664250"/>
            <a:ext cx="82418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SSE /api/events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1991692" y="5654725"/>
            <a:ext cx="71148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REAL-TIME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4662450" y="2604753"/>
            <a:ext cx="1876425" cy="1004887"/>
          </a:xfrm>
          <a:prstGeom prst="roundRect">
            <a:avLst>
              <a:gd name="adj" fmla="val 9100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77829" y="2719536"/>
            <a:ext cx="165458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REAL-TIME EVENTS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4777829" y="2899544"/>
            <a:ext cx="2064953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Server-Sent Events stream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background execution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to the UI. User sees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 working, not just a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spinner.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6719888" y="2604753"/>
            <a:ext cx="1876425" cy="1004887"/>
          </a:xfrm>
          <a:prstGeom prst="roundRect">
            <a:avLst>
              <a:gd name="adj" fmla="val 9100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35229" y="2719536"/>
            <a:ext cx="11554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BACKEND TTS</a:t>
            </a:r>
            <a:endParaRPr lang="en-US" sz="760" dirty="0"/>
          </a:p>
        </p:txBody>
      </p:sp>
      <p:sp>
        <p:nvSpPr>
          <p:cNvPr id="43" name="Text 40"/>
          <p:cNvSpPr/>
          <p:nvPr/>
        </p:nvSpPr>
        <p:spPr>
          <a:xfrm>
            <a:off x="6835229" y="2899544"/>
            <a:ext cx="21421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Kokoro-ONNX generates local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speech synthesis. No cloud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TTS dependency.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4662450" y="3791806"/>
            <a:ext cx="1876425" cy="885825"/>
          </a:xfrm>
          <a:prstGeom prst="roundRect">
            <a:avLst>
              <a:gd name="adj" fmla="val 10323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77829" y="3906589"/>
            <a:ext cx="11554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VOICE INPUT</a:t>
            </a:r>
            <a:endParaRPr lang="en-US" sz="760" dirty="0"/>
          </a:p>
        </p:txBody>
      </p:sp>
      <p:sp>
        <p:nvSpPr>
          <p:cNvPr id="46" name="Text 43"/>
          <p:cNvSpPr/>
          <p:nvPr/>
        </p:nvSpPr>
        <p:spPr>
          <a:xfrm>
            <a:off x="4777829" y="4086597"/>
            <a:ext cx="206495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Browser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window.SpeechRecognition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today. Backend Whisper STT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 not yet implemented.</a:t>
            </a:r>
            <a:endParaRPr lang="en-US" sz="720" dirty="0"/>
          </a:p>
        </p:txBody>
      </p:sp>
      <p:sp>
        <p:nvSpPr>
          <p:cNvPr id="47" name="Shape 44"/>
          <p:cNvSpPr/>
          <p:nvPr/>
        </p:nvSpPr>
        <p:spPr>
          <a:xfrm>
            <a:off x="6719888" y="3791806"/>
            <a:ext cx="1876425" cy="885825"/>
          </a:xfrm>
          <a:prstGeom prst="roundRect">
            <a:avLst>
              <a:gd name="adj" fmla="val 10323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835229" y="3906589"/>
            <a:ext cx="19540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PERSISTENCE</a:t>
            </a:r>
            <a:endParaRPr lang="en-US" sz="760" dirty="0"/>
          </a:p>
        </p:txBody>
      </p:sp>
      <p:sp>
        <p:nvSpPr>
          <p:cNvPr id="49" name="Text 46"/>
          <p:cNvSpPr/>
          <p:nvPr/>
        </p:nvSpPr>
        <p:spPr>
          <a:xfrm>
            <a:off x="6835229" y="4086597"/>
            <a:ext cx="214215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ID in localStorage.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Conversation survives page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refresh, not server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restart.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548580" y="4653483"/>
            <a:ext cx="51537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frontend/src/services/HadesService.ts · main.py · voice_manager.py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105558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PROOF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10006779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SENTENCE → REAL COMPUTER ACTION</a:t>
            </a:r>
            <a:endParaRPr lang="en-US" sz="2880" dirty="0"/>
          </a:p>
        </p:txBody>
      </p:sp>
      <p:sp>
        <p:nvSpPr>
          <p:cNvPr id="6" name="Shape 3"/>
          <p:cNvSpPr/>
          <p:nvPr/>
        </p:nvSpPr>
        <p:spPr>
          <a:xfrm>
            <a:off x="547688" y="1073721"/>
            <a:ext cx="8048625" cy="433388"/>
          </a:xfrm>
          <a:prstGeom prst="roundRect">
            <a:avLst>
              <a:gd name="adj" fmla="val 21099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A78B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3029" y="1197099"/>
            <a:ext cx="77592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“List all files in the current directory and save them to output.txt.”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18" y="1609688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1987" y="1724471"/>
            <a:ext cx="642938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788" y="1755428"/>
            <a:ext cx="71148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USER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63029" y="1946821"/>
            <a:ext cx="214215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Types or speaks the command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2583173" y="1609688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96468" y="1724471"/>
            <a:ext cx="866775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66343" y="1755428"/>
            <a:ext cx="1002283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FRONTEND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697584" y="1946821"/>
            <a:ext cx="20651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HadesService.sendMessage →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 /api/chat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4617727" y="1609688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31693" y="1724471"/>
            <a:ext cx="585788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898" y="1755428"/>
            <a:ext cx="63874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API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4732139" y="1946821"/>
            <a:ext cx="160157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main.py looks up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SessionState by UUID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652282" y="1609688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173" y="1724471"/>
            <a:ext cx="809625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35453" y="1755428"/>
            <a:ext cx="92953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PARTNER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66694" y="1946821"/>
            <a:ext cx="144737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IntentClassifier →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SMALL_TASK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548618" y="2389919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2508" y="2504703"/>
            <a:ext cx="809625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788" y="2535659"/>
            <a:ext cx="92953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PARTNER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663029" y="2727052"/>
            <a:ext cx="20649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MissionExtractor populates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fields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2583173" y="2389919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7C3AED">
              <a:alpha val="22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696542" y="2504703"/>
            <a:ext cx="642938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66343" y="2535659"/>
            <a:ext cx="71148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LOCK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2697584" y="2727052"/>
            <a:ext cx="191075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UnderstandingEvaluator →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AUTHORIZED_EXECUTION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4617727" y="2389919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31693" y="2504703"/>
            <a:ext cx="585788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898" y="2535659"/>
            <a:ext cx="63874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API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4732139" y="2727052"/>
            <a:ext cx="20651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asyncio.create_task → HTTP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returns immediately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6652282" y="2389919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F59E0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65652" y="2504703"/>
            <a:ext cx="642938" cy="171450"/>
          </a:xfrm>
          <a:prstGeom prst="roundRect">
            <a:avLst>
              <a:gd name="adj" fmla="val 18667"/>
            </a:avLst>
          </a:prstGeom>
          <a:solidFill>
            <a:srgbClr val="F59E0B">
              <a:alpha val="13000"/>
            </a:srgbClr>
          </a:solidFill>
          <a:ln w="4763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35453" y="2535659"/>
            <a:ext cx="71148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EXEC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6766694" y="2727052"/>
            <a:ext cx="18332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ExecutionBrain creates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1-task TaskGraph</a:t>
            </a:r>
            <a:endParaRPr lang="en-US" sz="720" dirty="0"/>
          </a:p>
        </p:txBody>
      </p:sp>
      <p:sp>
        <p:nvSpPr>
          <p:cNvPr id="40" name="Shape 37"/>
          <p:cNvSpPr/>
          <p:nvPr/>
        </p:nvSpPr>
        <p:spPr>
          <a:xfrm>
            <a:off x="548618" y="3170151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10B98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63141" y="3284934"/>
            <a:ext cx="752475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31788" y="3315891"/>
            <a:ext cx="8568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· WORKER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663029" y="3507284"/>
            <a:ext cx="20649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Gemini generates: ls -la &gt;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output.txt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2583173" y="3170151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10B98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696542" y="3284934"/>
            <a:ext cx="642938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766343" y="3315891"/>
            <a:ext cx="71148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· TOOL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2697584" y="3507284"/>
            <a:ext cx="198765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TerminalSkill executes on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host</a:t>
            </a:r>
            <a:endParaRPr lang="en-US" sz="720" dirty="0"/>
          </a:p>
        </p:txBody>
      </p:sp>
      <p:sp>
        <p:nvSpPr>
          <p:cNvPr id="48" name="Shape 45"/>
          <p:cNvSpPr/>
          <p:nvPr/>
        </p:nvSpPr>
        <p:spPr>
          <a:xfrm>
            <a:off x="4617727" y="3170151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732251" y="3284934"/>
            <a:ext cx="752475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800898" y="3315891"/>
            <a:ext cx="8568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· REVIEW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4732139" y="3507284"/>
            <a:ext cx="206514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exit_code 0 ✓ · output.txt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exists ✓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6652282" y="3170151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766806" y="3284934"/>
            <a:ext cx="752475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835453" y="3315891"/>
            <a:ext cx="8568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· MEMORY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6766694" y="3507284"/>
            <a:ext cx="152438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Mission appended to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memory.json</a:t>
            </a:r>
            <a:endParaRPr lang="en-US" sz="720" dirty="0"/>
          </a:p>
        </p:txBody>
      </p:sp>
      <p:sp>
        <p:nvSpPr>
          <p:cNvPr id="56" name="Shape 53"/>
          <p:cNvSpPr/>
          <p:nvPr/>
        </p:nvSpPr>
        <p:spPr>
          <a:xfrm>
            <a:off x="548618" y="3950382"/>
            <a:ext cx="1943100" cy="690562"/>
          </a:xfrm>
          <a:prstGeom prst="roundRect">
            <a:avLst>
              <a:gd name="adj" fmla="val 13241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10B98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62583" y="4065166"/>
            <a:ext cx="585788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31788" y="4096122"/>
            <a:ext cx="63874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· SSE</a:t>
            </a:r>
            <a:endParaRPr lang="en-US" sz="650" dirty="0"/>
          </a:p>
        </p:txBody>
      </p:sp>
      <p:sp>
        <p:nvSpPr>
          <p:cNvPr id="59" name="Text 56"/>
          <p:cNvSpPr/>
          <p:nvPr/>
        </p:nvSpPr>
        <p:spPr>
          <a:xfrm>
            <a:off x="663029" y="4287515"/>
            <a:ext cx="19879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UI updates → Hades speaks</a:t>
            </a:r>
            <a:endParaRPr lang="en-US" sz="720" dirty="0"/>
          </a:p>
          <a:p>
            <a:pPr algn="l" indent="0" marL="0">
              <a:lnSpc>
                <a:spcPts val="9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2067595" y="4829919"/>
            <a:ext cx="9125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CONVERSATION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2899395" y="4803874"/>
            <a:ext cx="18165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3168997" y="4829919"/>
            <a:ext cx="9125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MISSION LOCK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4000798" y="4803874"/>
            <a:ext cx="18165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4270400" y="4829919"/>
            <a:ext cx="112630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ASYNC EXECUTION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5266655" y="4803874"/>
            <a:ext cx="18165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5536257" y="4829919"/>
            <a:ext cx="9125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VERIFICATION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6368058" y="4803874"/>
            <a:ext cx="18165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6637660" y="4829919"/>
            <a:ext cx="62742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</a:t>
            </a:r>
            <a:endParaRPr lang="en-US" sz="720" dirty="0"/>
          </a:p>
        </p:txBody>
      </p:sp>
      <p:sp>
        <p:nvSpPr>
          <p:cNvPr id="69" name="Text 66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13550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MATURITY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586357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PROTOTYPE IS REAL.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548580" y="949747"/>
            <a:ext cx="29380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spc="89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BUT IT IS NOT FINISHED.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548208" y="1259309"/>
            <a:ext cx="2609850" cy="3033712"/>
          </a:xfrm>
          <a:prstGeom prst="roundRect">
            <a:avLst>
              <a:gd name="adj" fmla="val 3504"/>
            </a:avLst>
          </a:prstGeom>
          <a:solidFill>
            <a:srgbClr val="14142A">
              <a:alpha val="8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63029" y="1397124"/>
            <a:ext cx="12624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IMPLEMENTED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63029" y="1658987"/>
            <a:ext cx="2374032" cy="225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Conversation Flow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Intent Classification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Mission Extraction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Mission State Machine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Mission Lock Gate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WorkerManager + LiteLLM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Multi-Provider Routing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Terminal + Filesystem Skills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Review Engine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SSE event stream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React/Vite Frontend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Full E2E path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Backend TTS</a:t>
            </a:r>
            <a:endParaRPr lang="en-US" sz="72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Session persistence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3267038" y="1259309"/>
            <a:ext cx="2609850" cy="3033712"/>
          </a:xfrm>
          <a:prstGeom prst="roundRect">
            <a:avLst>
              <a:gd name="adj" fmla="val 3504"/>
            </a:avLst>
          </a:prstGeom>
          <a:solidFill>
            <a:srgbClr val="14142A">
              <a:alpha val="8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381821" y="1397124"/>
            <a:ext cx="19930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PARTIAL / IN PROGRESS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3381821" y="1668512"/>
            <a:ext cx="2374032" cy="118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⚡ Worker specialization</a:t>
            </a:r>
            <a:endParaRPr lang="en-US" sz="720" dirty="0"/>
          </a:p>
          <a:p>
            <a:pPr algn="l" indent="0" marL="0">
              <a:lnSpc>
                <a:spcPts val="1404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⚡ Task decomposition</a:t>
            </a:r>
            <a:endParaRPr lang="en-US" sz="720" dirty="0"/>
          </a:p>
          <a:p>
            <a:pPr algn="l" indent="0" marL="0">
              <a:lnSpc>
                <a:spcPts val="1404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⚡ Session memory</a:t>
            </a:r>
            <a:endParaRPr lang="en-US" sz="720" dirty="0"/>
          </a:p>
          <a:p>
            <a:pPr algn="l" indent="0" marL="0">
              <a:lnSpc>
                <a:spcPts val="1404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⚡ Mission memory</a:t>
            </a:r>
            <a:endParaRPr lang="en-US" sz="720" dirty="0"/>
          </a:p>
          <a:p>
            <a:pPr algn="l" indent="0" marL="0">
              <a:lnSpc>
                <a:spcPts val="1404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⚡ Voice input</a:t>
            </a:r>
            <a:endParaRPr lang="en-US" sz="720" dirty="0"/>
          </a:p>
          <a:p>
            <a:pPr algn="l" indent="0" marL="0">
              <a:lnSpc>
                <a:spcPts val="1404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⚡ Browser skill</a:t>
            </a:r>
            <a:endParaRPr lang="en-US" sz="720" dirty="0"/>
          </a:p>
          <a:p>
            <a:pPr algn="l" indent="0" marL="0">
              <a:lnSpc>
                <a:spcPts val="1404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⚡ Equal partnership guardrails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5985904" y="1259309"/>
            <a:ext cx="2609850" cy="3033712"/>
          </a:xfrm>
          <a:prstGeom prst="roundRect">
            <a:avLst>
              <a:gd name="adj" fmla="val 3504"/>
            </a:avLst>
          </a:prstGeom>
          <a:solidFill>
            <a:srgbClr val="14142A">
              <a:alpha val="8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100688" y="1397124"/>
            <a:ext cx="19952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YET IMPLEMENTED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6100688" y="1658987"/>
            <a:ext cx="2528233" cy="1691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Dynamic multi-step TaskGraph</a:t>
            </a:r>
            <a:endParaRPr lang="en-US" sz="72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Autonomous specialized workers</a:t>
            </a:r>
            <a:endParaRPr lang="en-US" sz="72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RAG / Vector memory</a:t>
            </a:r>
            <a:endParaRPr lang="en-US" sz="72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Backend Whisper STT</a:t>
            </a:r>
            <a:endParaRPr lang="en-US" sz="72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Docker / sandbox isolation</a:t>
            </a:r>
            <a:endParaRPr lang="en-US" sz="72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Execution security hardening</a:t>
            </a:r>
            <a:endParaRPr lang="en-US" sz="72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Deep Linux integration</a:t>
            </a:r>
            <a:endParaRPr lang="en-US" sz="72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Structured observability</a:t>
            </a:r>
            <a:endParaRPr lang="en-US" sz="72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Comprehensive test suite</a:t>
            </a:r>
            <a:endParaRPr lang="en-US" sz="72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Production-grade automation</a:t>
            </a:r>
            <a:endParaRPr lang="en-US" sz="72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Cross-session identity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1669729" y="4410596"/>
            <a:ext cx="580446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810"/>
              </a:spcBef>
              <a:buNone/>
            </a:pPr>
            <a:r>
              <a:rPr lang="en-US" sz="112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Working prototype. Known gaps. Clear engineering path forward.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3478932" y="4716438"/>
            <a:ext cx="129298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LOOP: PROVEN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4658469" y="4716438"/>
            <a:ext cx="1365729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OS: IN PROGRESS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208" y="1259309"/>
            <a:ext cx="2609850" cy="303371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7038" y="1259309"/>
            <a:ext cx="2609850" cy="3033712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5904" y="1259309"/>
            <a:ext cx="2609850" cy="30337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12552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NOVELTY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897796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HADES ACTUALLY CONTRIBUTES</a:t>
            </a:r>
            <a:endParaRPr lang="en-US" sz="2880" dirty="0"/>
          </a:p>
        </p:txBody>
      </p:sp>
      <p:sp>
        <p:nvSpPr>
          <p:cNvPr id="6" name="Shape 3"/>
          <p:cNvSpPr/>
          <p:nvPr/>
        </p:nvSpPr>
        <p:spPr>
          <a:xfrm>
            <a:off x="548208" y="1072828"/>
            <a:ext cx="2609850" cy="1443038"/>
          </a:xfrm>
          <a:prstGeom prst="roundRect">
            <a:avLst>
              <a:gd name="adj" fmla="val 633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3029" y="1187574"/>
            <a:ext cx="305236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MUTUAL UNDERSTANDING GATE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663029" y="1372344"/>
            <a:ext cx="2999251" cy="81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Conversation is the authorization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layer. Execution is gated by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objective + desired outcome +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success criteria + mutual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understanding.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1950" y="2195661"/>
            <a:ext cx="2376487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788" y="2226618"/>
            <a:ext cx="296500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· UNDERSTANDING_EVALUATOR.PY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3267038" y="1072828"/>
            <a:ext cx="2609850" cy="1443038"/>
          </a:xfrm>
          <a:prstGeom prst="roundRect">
            <a:avLst>
              <a:gd name="adj" fmla="val 633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1821" y="1187574"/>
            <a:ext cx="305236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MISSION-CENTRIC COMPUTING</a:t>
            </a:r>
            <a:endParaRPr lang="en-US" sz="760" dirty="0"/>
          </a:p>
        </p:txBody>
      </p:sp>
      <p:sp>
        <p:nvSpPr>
          <p:cNvPr id="13" name="Text 10"/>
          <p:cNvSpPr/>
          <p:nvPr/>
        </p:nvSpPr>
        <p:spPr>
          <a:xfrm>
            <a:off x="3381821" y="1372344"/>
            <a:ext cx="2999251" cy="64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Prompts are disposable. Missions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are persistent units of work with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structured fields, state, and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outcome.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1077" y="2029941"/>
            <a:ext cx="1481137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0580" y="2060897"/>
            <a:ext cx="180192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· MISSION.PY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985904" y="1072828"/>
            <a:ext cx="2609850" cy="1443038"/>
          </a:xfrm>
          <a:prstGeom prst="roundRect">
            <a:avLst>
              <a:gd name="adj" fmla="val 6337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0688" y="1187574"/>
            <a:ext cx="245335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PARTNER + EXECUTIVE</a:t>
            </a:r>
            <a:endParaRPr lang="en-US" sz="76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DUALITY</a:t>
            </a: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6100688" y="1500932"/>
            <a:ext cx="3088444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Partner Brain handles alignment.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Executive Brain handles execution.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Two isolated cognitive systems.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00800" y="1992809"/>
            <a:ext cx="752475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69447" y="2023765"/>
            <a:ext cx="8568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548208" y="2625477"/>
            <a:ext cx="2609850" cy="1276350"/>
          </a:xfrm>
          <a:prstGeom prst="roundRect">
            <a:avLst>
              <a:gd name="adj" fmla="val 716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3029" y="2739703"/>
            <a:ext cx="285269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INVISIBLE ORCHESTRATION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663029" y="2924473"/>
            <a:ext cx="2910155" cy="64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 classifies capability,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selects a model, routes the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prompt, collects the result, and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validates it.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63141" y="3582070"/>
            <a:ext cx="752475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788" y="3613026"/>
            <a:ext cx="8568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3267038" y="2625477"/>
            <a:ext cx="2609850" cy="1276350"/>
          </a:xfrm>
          <a:prstGeom prst="roundRect">
            <a:avLst>
              <a:gd name="adj" fmla="val 716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81821" y="2739703"/>
            <a:ext cx="23535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VERIFICATION-FIRST</a:t>
            </a:r>
            <a:endParaRPr lang="en-US" sz="76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EXECUTION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3381821" y="3053060"/>
            <a:ext cx="3089315" cy="48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 code → artifact → heuristic →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semantic review. Generation is not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success.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382156" y="3544937"/>
            <a:ext cx="1814513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50580" y="3575893"/>
            <a:ext cx="223811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 · REVIEW_ENGINE.PY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985904" y="2625477"/>
            <a:ext cx="2609850" cy="1276350"/>
          </a:xfrm>
          <a:prstGeom prst="roundRect">
            <a:avLst>
              <a:gd name="adj" fmla="val 7164"/>
            </a:avLst>
          </a:prstGeom>
          <a:solidFill>
            <a:srgbClr val="14142A">
              <a:alpha val="88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00688" y="2739703"/>
            <a:ext cx="285269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MODEL-AGNOSTIC AI LAYER</a:t>
            </a:r>
            <a:endParaRPr lang="en-US" sz="760" dirty="0"/>
          </a:p>
        </p:txBody>
      </p:sp>
      <p:sp>
        <p:nvSpPr>
          <p:cNvPr id="33" name="Text 30"/>
          <p:cNvSpPr/>
          <p:nvPr/>
        </p:nvSpPr>
        <p:spPr>
          <a:xfrm>
            <a:off x="6100688" y="2924473"/>
            <a:ext cx="2999251" cy="64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LiteLLM wraps multiple providers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behind one interface. Fallback is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automatic; config drives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extension.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100800" y="3582070"/>
            <a:ext cx="752475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69447" y="3613026"/>
            <a:ext cx="85688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IMPLEMENTED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547688" y="4006044"/>
            <a:ext cx="8048625" cy="647700"/>
          </a:xfrm>
          <a:prstGeom prst="roundRect">
            <a:avLst>
              <a:gd name="adj" fmla="val 14118"/>
            </a:avLst>
          </a:prstGeom>
          <a:solidFill>
            <a:srgbClr val="7C3AED">
              <a:alpha val="13000"/>
            </a:srgbClr>
          </a:solidFill>
          <a:ln w="4763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715749" y="4124102"/>
            <a:ext cx="371250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novelty is not another smarter model.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662957" y="4335289"/>
            <a:ext cx="581801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284"/>
              </a:spcBef>
              <a:buNone/>
            </a:pPr>
            <a:r>
              <a:rPr lang="en-US" sz="115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is a system that organizes intelligence around human intent.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sx="100000" sy="100000" kx="0" ky="0" algn="bl" rotWithShape="0" blurRad="101600" dist="4763" dir="16200000">
              <a:srgbClr val="7C3AED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580" y="123379"/>
            <a:ext cx="6323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222" kern="0" dirty="0">
                <a:solidFill>
                  <a:srgbClr val="6051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HADES</a:t>
            </a:r>
            <a:endParaRPr lang="en-US" sz="790" dirty="0"/>
          </a:p>
        </p:txBody>
      </p:sp>
      <p:sp>
        <p:nvSpPr>
          <p:cNvPr id="4" name="Text 1"/>
          <p:cNvSpPr/>
          <p:nvPr/>
        </p:nvSpPr>
        <p:spPr>
          <a:xfrm>
            <a:off x="548580" y="308595"/>
            <a:ext cx="21537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spc="151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THE PATH FORWARD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48580" y="457126"/>
            <a:ext cx="660439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spcAft>
                <a:spcPts val="607"/>
              </a:spcAft>
              <a:buNone/>
            </a:pPr>
            <a:r>
              <a:rPr lang="en-US" sz="2880" b="1" spc="8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WORKING PROTOTYPE</a:t>
            </a:r>
            <a:endParaRPr lang="en-US" sz="2880" dirty="0"/>
          </a:p>
        </p:txBody>
      </p:sp>
      <p:sp>
        <p:nvSpPr>
          <p:cNvPr id="6" name="Text 3"/>
          <p:cNvSpPr/>
          <p:nvPr/>
        </p:nvSpPr>
        <p:spPr>
          <a:xfrm>
            <a:off x="548580" y="949747"/>
            <a:ext cx="34390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spc="89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 TRUE AI OPERATING SYSTEM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548208" y="1259309"/>
            <a:ext cx="2609850" cy="2519362"/>
          </a:xfrm>
          <a:prstGeom prst="roundRect">
            <a:avLst>
              <a:gd name="adj" fmla="val 3629"/>
            </a:avLst>
          </a:prstGeom>
          <a:solidFill>
            <a:srgbClr val="14142A">
              <a:alpha val="8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63029" y="1401887"/>
            <a:ext cx="50456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v0.1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663029" y="1657201"/>
            <a:ext cx="143905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82" kern="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 · PROTOTYPE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663029" y="1872407"/>
            <a:ext cx="2219638" cy="1335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Partner Brain loop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Mission Lock authorization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Multi-provider routing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Terminal + filesystem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Review Engine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Real-time SSE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Backend TTS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Complete E2E path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664183" y="3238128"/>
            <a:ext cx="1085850" cy="171450"/>
          </a:xfrm>
          <a:prstGeom prst="roundRect">
            <a:avLst>
              <a:gd name="adj" fmla="val 18667"/>
            </a:avLst>
          </a:prstGeom>
          <a:solidFill>
            <a:srgbClr val="10B981">
              <a:alpha val="13000"/>
            </a:srgbClr>
          </a:solidFill>
          <a:ln w="4763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788" y="3269084"/>
            <a:ext cx="1292982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LOOP: PROVEN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3267038" y="1259309"/>
            <a:ext cx="2609850" cy="2519362"/>
          </a:xfrm>
          <a:prstGeom prst="roundRect">
            <a:avLst>
              <a:gd name="adj" fmla="val 3629"/>
            </a:avLst>
          </a:prstGeom>
          <a:solidFill>
            <a:srgbClr val="14142A">
              <a:alpha val="8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381821" y="1401887"/>
            <a:ext cx="550612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v0.2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3381821" y="1657201"/>
            <a:ext cx="135779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82" kern="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· HARDENING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3381821" y="1872407"/>
            <a:ext cx="1756261" cy="150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Dynamic TaskGraph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Multi-step execution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Docker sandbox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Whisper backend STT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Specialized workers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Vector / RAG memory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Security hardening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Structured logging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E2E test suite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3382231" y="3411885"/>
            <a:ext cx="1590675" cy="171450"/>
          </a:xfrm>
          <a:prstGeom prst="roundRect">
            <a:avLst>
              <a:gd name="adj" fmla="val 18667"/>
            </a:avLst>
          </a:prstGeom>
          <a:solidFill>
            <a:srgbClr val="F59E0B">
              <a:alpha val="13000"/>
            </a:srgbClr>
          </a:solidFill>
          <a:ln w="4763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0580" y="3442841"/>
            <a:ext cx="1947319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KNOWN ENGINEERING PROBLEMS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5985904" y="1259309"/>
            <a:ext cx="2609850" cy="2519362"/>
          </a:xfrm>
          <a:prstGeom prst="roundRect">
            <a:avLst>
              <a:gd name="adj" fmla="val 3629"/>
            </a:avLst>
          </a:prstGeom>
          <a:solidFill>
            <a:srgbClr val="14142A">
              <a:alpha val="8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100688" y="1401887"/>
            <a:ext cx="51685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v1.0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6100688" y="1657201"/>
            <a:ext cx="11952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spc="82" kern="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VISION · AI OS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6100688" y="1872407"/>
            <a:ext cx="2219638" cy="1509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◆ Cross-device identity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◆ Autonomous scheduling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◆ Background missions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◆ Plugin / skill ecosystem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◆ Distributed execution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◆ Local + cloud blend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◆ Long-term partnership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◆ Deep Linux integration</a:t>
            </a:r>
            <a:endParaRPr lang="en-US" sz="72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◆ Proactive goal suggestions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6100539" y="3411885"/>
            <a:ext cx="1423987" cy="171450"/>
          </a:xfrm>
          <a:prstGeom prst="roundRect">
            <a:avLst>
              <a:gd name="adj" fmla="val 18667"/>
            </a:avLst>
          </a:prstGeom>
          <a:solidFill>
            <a:srgbClr val="7C3AED">
              <a:alpha val="18000"/>
            </a:srgbClr>
          </a:solidFill>
          <a:ln w="4763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69447" y="3442841"/>
            <a:ext cx="172917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spc="5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ACTUAL AI OS VISION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547688" y="3984799"/>
            <a:ext cx="8048625" cy="4763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2446623" y="4141961"/>
            <a:ext cx="42507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70" b="1" spc="75" kern="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 SETS THE MISSION.</a:t>
            </a:r>
            <a:endParaRPr lang="en-US" sz="1870" dirty="0"/>
          </a:p>
        </p:txBody>
      </p:sp>
      <p:sp>
        <p:nvSpPr>
          <p:cNvPr id="27" name="Text 24"/>
          <p:cNvSpPr/>
          <p:nvPr/>
        </p:nvSpPr>
        <p:spPr>
          <a:xfrm>
            <a:off x="1271833" y="4534495"/>
            <a:ext cx="66003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284"/>
              </a:spcBef>
              <a:buNone/>
            </a:pPr>
            <a:r>
              <a:rPr lang="en-US" sz="1870" b="1" spc="75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HADES ORCHESTRATES THE INTELLIGENCE.</a:t>
            </a:r>
            <a:endParaRPr lang="en-US" sz="1870" dirty="0"/>
          </a:p>
        </p:txBody>
      </p:sp>
      <p:sp>
        <p:nvSpPr>
          <p:cNvPr id="28" name="Shape 25"/>
          <p:cNvSpPr/>
          <p:nvPr/>
        </p:nvSpPr>
        <p:spPr>
          <a:xfrm>
            <a:off x="547688" y="4995862"/>
            <a:ext cx="8048625" cy="4763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2149551" y="5077718"/>
            <a:ext cx="484482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 Hades proves the loop. The next phase proves the system.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2535633" y="5237857"/>
            <a:ext cx="40726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324"/>
              </a:spcBef>
              <a:buNone/>
            </a:pPr>
            <a:r>
              <a:rPr lang="en-US" sz="720" spc="36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 HADES · AI OPERATING SYSTEM PROTOTYPE · 2025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8121923" y="4906194"/>
            <a:ext cx="67269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pPr algn="l" indent="0" marL="0">
              <a:buNone/>
            </a:pPr>
            <a:r>
              <a:rPr lang="en-US" sz="720" spc="101" kern="0" dirty="0">
                <a:solidFill>
                  <a:srgbClr val="6B72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13</a:t>
            </a:r>
            <a:endParaRPr lang="en-US" sz="72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208" y="1259309"/>
            <a:ext cx="2609850" cy="2519362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7038" y="1259309"/>
            <a:ext cx="2609850" cy="2519362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5904" y="1259309"/>
            <a:ext cx="2609850" cy="2519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2026-08-24T14:21:37Z</dcterms:created>
  <dcterms:modified xsi:type="dcterms:W3CDTF">2026-08-24T14:21:37Z</dcterms:modified>
</cp:coreProperties>
</file>